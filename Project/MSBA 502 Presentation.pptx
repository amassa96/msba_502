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65AA3B-330C-4CF2-9ADB-0975F1C8661D}" v="5" dt="2026-10-19T19:12:24.691"/>
    <p1510:client id="{27617FAD-FC99-B74B-9443-F0A2BAECE1F7}" v="1" dt="2026-10-19T03:29:13.6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3579"/>
  </p:normalViewPr>
  <p:slideViewPr>
    <p:cSldViewPr snapToGrid="0" snapToObjects="1">
      <p:cViewPr varScale="1">
        <p:scale>
          <a:sx n="149" d="100"/>
          <a:sy n="149" d="100"/>
        </p:scale>
        <p:origin x="69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w Massa" userId="8efb8a0e1b13d44c" providerId="LiveId" clId="{3ACF9128-E840-5959-BFC4-4A4B832DEB41}"/>
    <pc:docChg chg="custSel modSld">
      <pc:chgData name="Andrew Massa" userId="8efb8a0e1b13d44c" providerId="LiveId" clId="{3ACF9128-E840-5959-BFC4-4A4B832DEB41}" dt="2026-10-19T17:45:50.155" v="400" actId="20577"/>
      <pc:docMkLst>
        <pc:docMk/>
      </pc:docMkLst>
      <pc:sldChg chg="modSp mod">
        <pc:chgData name="Andrew Massa" userId="8efb8a0e1b13d44c" providerId="LiveId" clId="{3ACF9128-E840-5959-BFC4-4A4B832DEB41}" dt="2026-10-19T16:54:49.256" v="179" actId="20577"/>
        <pc:sldMkLst>
          <pc:docMk/>
          <pc:sldMk cId="0" sldId="257"/>
        </pc:sldMkLst>
        <pc:spChg chg="mod">
          <ac:chgData name="Andrew Massa" userId="8efb8a0e1b13d44c" providerId="LiveId" clId="{3ACF9128-E840-5959-BFC4-4A4B832DEB41}" dt="2026-10-19T16:54:49.256" v="179" actId="20577"/>
          <ac:spMkLst>
            <pc:docMk/>
            <pc:sldMk cId="0" sldId="257"/>
            <ac:spMk id="9" creationId="{00000000-0000-0000-0000-000000000000}"/>
          </ac:spMkLst>
        </pc:spChg>
      </pc:sldChg>
      <pc:sldChg chg="modNotesTx">
        <pc:chgData name="Andrew Massa" userId="8efb8a0e1b13d44c" providerId="LiveId" clId="{3ACF9128-E840-5959-BFC4-4A4B832DEB41}" dt="2026-10-19T16:44:15.898" v="125" actId="20577"/>
        <pc:sldMkLst>
          <pc:docMk/>
          <pc:sldMk cId="0" sldId="258"/>
        </pc:sldMkLst>
      </pc:sldChg>
      <pc:sldChg chg="modSp mod modNotesTx">
        <pc:chgData name="Andrew Massa" userId="8efb8a0e1b13d44c" providerId="LiveId" clId="{3ACF9128-E840-5959-BFC4-4A4B832DEB41}" dt="2026-10-19T17:03:51.405" v="207" actId="20577"/>
        <pc:sldMkLst>
          <pc:docMk/>
          <pc:sldMk cId="0" sldId="259"/>
        </pc:sldMkLst>
        <pc:spChg chg="mod">
          <ac:chgData name="Andrew Massa" userId="8efb8a0e1b13d44c" providerId="LiveId" clId="{3ACF9128-E840-5959-BFC4-4A4B832DEB41}" dt="2026-10-19T17:03:43.728" v="204" actId="20577"/>
          <ac:spMkLst>
            <pc:docMk/>
            <pc:sldMk cId="0" sldId="259"/>
            <ac:spMk id="5" creationId="{00000000-0000-0000-0000-000000000000}"/>
          </ac:spMkLst>
        </pc:spChg>
        <pc:spChg chg="mod">
          <ac:chgData name="Andrew Massa" userId="8efb8a0e1b13d44c" providerId="LiveId" clId="{3ACF9128-E840-5959-BFC4-4A4B832DEB41}" dt="2026-10-19T17:03:51.405" v="207" actId="20577"/>
          <ac:spMkLst>
            <pc:docMk/>
            <pc:sldMk cId="0" sldId="259"/>
            <ac:spMk id="8" creationId="{00000000-0000-0000-0000-000000000000}"/>
          </ac:spMkLst>
        </pc:spChg>
      </pc:sldChg>
      <pc:sldChg chg="modNotesTx">
        <pc:chgData name="Andrew Massa" userId="8efb8a0e1b13d44c" providerId="LiveId" clId="{3ACF9128-E840-5959-BFC4-4A4B832DEB41}" dt="2026-10-19T17:02:59.186" v="200" actId="20577"/>
        <pc:sldMkLst>
          <pc:docMk/>
          <pc:sldMk cId="0" sldId="260"/>
        </pc:sldMkLst>
      </pc:sldChg>
      <pc:sldChg chg="modSp mod modNotesTx">
        <pc:chgData name="Andrew Massa" userId="8efb8a0e1b13d44c" providerId="LiveId" clId="{3ACF9128-E840-5959-BFC4-4A4B832DEB41}" dt="2026-10-19T17:12:19.270" v="227" actId="20577"/>
        <pc:sldMkLst>
          <pc:docMk/>
          <pc:sldMk cId="0" sldId="261"/>
        </pc:sldMkLst>
        <pc:spChg chg="mod">
          <ac:chgData name="Andrew Massa" userId="8efb8a0e1b13d44c" providerId="LiveId" clId="{3ACF9128-E840-5959-BFC4-4A4B832DEB41}" dt="2026-10-19T17:12:19.270" v="227" actId="20577"/>
          <ac:spMkLst>
            <pc:docMk/>
            <pc:sldMk cId="0" sldId="261"/>
            <ac:spMk id="15" creationId="{00000000-0000-0000-0000-000000000000}"/>
          </ac:spMkLst>
        </pc:spChg>
      </pc:sldChg>
      <pc:sldChg chg="modSp mod modNotesTx">
        <pc:chgData name="Andrew Massa" userId="8efb8a0e1b13d44c" providerId="LiveId" clId="{3ACF9128-E840-5959-BFC4-4A4B832DEB41}" dt="2026-10-19T17:45:50.155" v="400" actId="20577"/>
        <pc:sldMkLst>
          <pc:docMk/>
          <pc:sldMk cId="0" sldId="263"/>
        </pc:sldMkLst>
        <pc:spChg chg="mod">
          <ac:chgData name="Andrew Massa" userId="8efb8a0e1b13d44c" providerId="LiveId" clId="{3ACF9128-E840-5959-BFC4-4A4B832DEB41}" dt="2026-10-19T17:44:33.979" v="282" actId="20577"/>
          <ac:spMkLst>
            <pc:docMk/>
            <pc:sldMk cId="0" sldId="263"/>
            <ac:spMk id="6" creationId="{00000000-0000-0000-0000-000000000000}"/>
          </ac:spMkLst>
        </pc:spChg>
        <pc:graphicFrameChg chg="modGraphic">
          <ac:chgData name="Andrew Massa" userId="8efb8a0e1b13d44c" providerId="LiveId" clId="{3ACF9128-E840-5959-BFC4-4A4B832DEB41}" dt="2026-10-19T17:24:53.013" v="262" actId="20577"/>
          <ac:graphicFrameMkLst>
            <pc:docMk/>
            <pc:sldMk cId="0" sldId="263"/>
            <ac:graphicFrameMk id="4" creationId="{00000000-0000-0000-0000-000000000000}"/>
          </ac:graphicFrameMkLst>
        </pc:graphicFrameChg>
      </pc:sldChg>
      <pc:sldChg chg="modSp mod">
        <pc:chgData name="Andrew Massa" userId="8efb8a0e1b13d44c" providerId="LiveId" clId="{3ACF9128-E840-5959-BFC4-4A4B832DEB41}" dt="2026-10-19T17:29:59.009" v="268" actId="20577"/>
        <pc:sldMkLst>
          <pc:docMk/>
          <pc:sldMk cId="0" sldId="264"/>
        </pc:sldMkLst>
        <pc:spChg chg="mod">
          <ac:chgData name="Andrew Massa" userId="8efb8a0e1b13d44c" providerId="LiveId" clId="{3ACF9128-E840-5959-BFC4-4A4B832DEB41}" dt="2026-10-19T17:29:59.009" v="268" actId="20577"/>
          <ac:spMkLst>
            <pc:docMk/>
            <pc:sldMk cId="0" sldId="264"/>
            <ac:spMk id="11" creationId="{00000000-0000-0000-0000-000000000000}"/>
          </ac:spMkLst>
        </pc:spChg>
      </pc:sldChg>
      <pc:sldChg chg="modSp mod modNotesTx">
        <pc:chgData name="Andrew Massa" userId="8efb8a0e1b13d44c" providerId="LiveId" clId="{3ACF9128-E840-5959-BFC4-4A4B832DEB41}" dt="2026-10-19T16:51:50.845" v="170" actId="20577"/>
        <pc:sldMkLst>
          <pc:docMk/>
          <pc:sldMk cId="0" sldId="266"/>
        </pc:sldMkLst>
        <pc:spChg chg="mod">
          <ac:chgData name="Andrew Massa" userId="8efb8a0e1b13d44c" providerId="LiveId" clId="{3ACF9128-E840-5959-BFC4-4A4B832DEB41}" dt="2026-10-19T16:51:50.845" v="170" actId="20577"/>
          <ac:spMkLst>
            <pc:docMk/>
            <pc:sldMk cId="0" sldId="266"/>
            <ac:spMk id="14" creationId="{00000000-0000-0000-0000-000000000000}"/>
          </ac:spMkLst>
        </pc:spChg>
        <pc:spChg chg="mod">
          <ac:chgData name="Andrew Massa" userId="8efb8a0e1b13d44c" providerId="LiveId" clId="{3ACF9128-E840-5959-BFC4-4A4B832DEB41}" dt="2026-10-19T16:51:36.664" v="148" actId="20577"/>
          <ac:spMkLst>
            <pc:docMk/>
            <pc:sldMk cId="0" sldId="266"/>
            <ac:spMk id="15" creationId="{00000000-0000-0000-0000-000000000000}"/>
          </ac:spMkLst>
        </pc:spChg>
      </pc:sldChg>
      <pc:sldChg chg="delSp modSp mod modNotesTx">
        <pc:chgData name="Andrew Massa" userId="8efb8a0e1b13d44c" providerId="LiveId" clId="{3ACF9128-E840-5959-BFC4-4A4B832DEB41}" dt="2026-10-19T16:49:53.614" v="139" actId="20577"/>
        <pc:sldMkLst>
          <pc:docMk/>
          <pc:sldMk cId="0" sldId="268"/>
        </pc:sldMkLst>
        <pc:spChg chg="del">
          <ac:chgData name="Andrew Massa" userId="8efb8a0e1b13d44c" providerId="LiveId" clId="{3ACF9128-E840-5959-BFC4-4A4B832DEB41}" dt="2026-10-19T16:49:41.270" v="126" actId="478"/>
          <ac:spMkLst>
            <pc:docMk/>
            <pc:sldMk cId="0" sldId="268"/>
            <ac:spMk id="5" creationId="{00000000-0000-0000-0000-000000000000}"/>
          </ac:spMkLst>
        </pc:spChg>
        <pc:graphicFrameChg chg="mod modGraphic">
          <ac:chgData name="Andrew Massa" userId="8efb8a0e1b13d44c" providerId="LiveId" clId="{3ACF9128-E840-5959-BFC4-4A4B832DEB41}" dt="2026-10-19T03:29:15.042" v="121" actId="20577"/>
          <ac:graphicFrameMkLst>
            <pc:docMk/>
            <pc:sldMk cId="0" sldId="268"/>
            <ac:graphicFrameMk id="4" creationId="{00000000-0000-0000-0000-000000000000}"/>
          </ac:graphicFrameMkLst>
        </pc:graphicFrameChg>
      </pc:sldChg>
    </pc:docChg>
  </pc:docChgLst>
  <pc:docChgLst>
    <pc:chgData name="Andrew Massa" userId="8efb8a0e1b13d44c" providerId="LiveId" clId="{B9E246D2-4ACA-488E-A30E-64BC982A8708}"/>
    <pc:docChg chg="undo custSel addSld modSld">
      <pc:chgData name="Andrew Massa" userId="8efb8a0e1b13d44c" providerId="LiveId" clId="{B9E246D2-4ACA-488E-A30E-64BC982A8708}" dt="2026-10-19T19:58:36.009" v="208" actId="20577"/>
      <pc:docMkLst>
        <pc:docMk/>
      </pc:docMkLst>
      <pc:sldChg chg="delSp modSp mod">
        <pc:chgData name="Andrew Massa" userId="8efb8a0e1b13d44c" providerId="LiveId" clId="{B9E246D2-4ACA-488E-A30E-64BC982A8708}" dt="2026-10-19T18:32:31.789" v="50" actId="478"/>
        <pc:sldMkLst>
          <pc:docMk/>
          <pc:sldMk cId="0" sldId="261"/>
        </pc:sldMkLst>
        <pc:spChg chg="del mod">
          <ac:chgData name="Andrew Massa" userId="8efb8a0e1b13d44c" providerId="LiveId" clId="{B9E246D2-4ACA-488E-A30E-64BC982A8708}" dt="2026-10-19T18:32:20.942" v="46" actId="478"/>
          <ac:spMkLst>
            <pc:docMk/>
            <pc:sldMk cId="0" sldId="261"/>
            <ac:spMk id="14" creationId="{00000000-0000-0000-0000-000000000000}"/>
          </ac:spMkLst>
        </pc:spChg>
        <pc:spChg chg="mod">
          <ac:chgData name="Andrew Massa" userId="8efb8a0e1b13d44c" providerId="LiveId" clId="{B9E246D2-4ACA-488E-A30E-64BC982A8708}" dt="2026-10-19T18:32:18.896" v="44" actId="20577"/>
          <ac:spMkLst>
            <pc:docMk/>
            <pc:sldMk cId="0" sldId="261"/>
            <ac:spMk id="15" creationId="{00000000-0000-0000-0000-000000000000}"/>
          </ac:spMkLst>
        </pc:spChg>
        <pc:spChg chg="del">
          <ac:chgData name="Andrew Massa" userId="8efb8a0e1b13d44c" providerId="LiveId" clId="{B9E246D2-4ACA-488E-A30E-64BC982A8708}" dt="2026-10-19T18:32:31.789" v="50" actId="478"/>
          <ac:spMkLst>
            <pc:docMk/>
            <pc:sldMk cId="0" sldId="261"/>
            <ac:spMk id="16" creationId="{00000000-0000-0000-0000-000000000000}"/>
          </ac:spMkLst>
        </pc:spChg>
        <pc:spChg chg="del">
          <ac:chgData name="Andrew Massa" userId="8efb8a0e1b13d44c" providerId="LiveId" clId="{B9E246D2-4ACA-488E-A30E-64BC982A8708}" dt="2026-10-19T18:32:31.202" v="49" actId="478"/>
          <ac:spMkLst>
            <pc:docMk/>
            <pc:sldMk cId="0" sldId="261"/>
            <ac:spMk id="17" creationId="{00000000-0000-0000-0000-000000000000}"/>
          </ac:spMkLst>
        </pc:spChg>
        <pc:spChg chg="mod">
          <ac:chgData name="Andrew Massa" userId="8efb8a0e1b13d44c" providerId="LiveId" clId="{B9E246D2-4ACA-488E-A30E-64BC982A8708}" dt="2026-10-19T18:32:26.341" v="47" actId="1076"/>
          <ac:spMkLst>
            <pc:docMk/>
            <pc:sldMk cId="0" sldId="261"/>
            <ac:spMk id="18" creationId="{00000000-0000-0000-0000-000000000000}"/>
          </ac:spMkLst>
        </pc:spChg>
        <pc:spChg chg="mod">
          <ac:chgData name="Andrew Massa" userId="8efb8a0e1b13d44c" providerId="LiveId" clId="{B9E246D2-4ACA-488E-A30E-64BC982A8708}" dt="2026-10-19T18:32:28.644" v="48" actId="1076"/>
          <ac:spMkLst>
            <pc:docMk/>
            <pc:sldMk cId="0" sldId="261"/>
            <ac:spMk id="19" creationId="{00000000-0000-0000-0000-000000000000}"/>
          </ac:spMkLst>
        </pc:spChg>
      </pc:sldChg>
      <pc:sldChg chg="modSp mod">
        <pc:chgData name="Andrew Massa" userId="8efb8a0e1b13d44c" providerId="LiveId" clId="{B9E246D2-4ACA-488E-A30E-64BC982A8708}" dt="2026-10-19T19:51:59.130" v="176" actId="20577"/>
        <pc:sldMkLst>
          <pc:docMk/>
          <pc:sldMk cId="0" sldId="262"/>
        </pc:sldMkLst>
        <pc:spChg chg="mod">
          <ac:chgData name="Andrew Massa" userId="8efb8a0e1b13d44c" providerId="LiveId" clId="{B9E246D2-4ACA-488E-A30E-64BC982A8708}" dt="2026-10-19T19:51:59.130" v="176" actId="20577"/>
          <ac:spMkLst>
            <pc:docMk/>
            <pc:sldMk cId="0" sldId="262"/>
            <ac:spMk id="9" creationId="{00000000-0000-0000-0000-000000000000}"/>
          </ac:spMkLst>
        </pc:spChg>
      </pc:sldChg>
      <pc:sldChg chg="modSp mod">
        <pc:chgData name="Andrew Massa" userId="8efb8a0e1b13d44c" providerId="LiveId" clId="{B9E246D2-4ACA-488E-A30E-64BC982A8708}" dt="2026-10-19T19:57:34.827" v="205" actId="20577"/>
        <pc:sldMkLst>
          <pc:docMk/>
          <pc:sldMk cId="0" sldId="263"/>
        </pc:sldMkLst>
        <pc:spChg chg="mod">
          <ac:chgData name="Andrew Massa" userId="8efb8a0e1b13d44c" providerId="LiveId" clId="{B9E246D2-4ACA-488E-A30E-64BC982A8708}" dt="2026-10-19T19:57:04.845" v="196" actId="20577"/>
          <ac:spMkLst>
            <pc:docMk/>
            <pc:sldMk cId="0" sldId="263"/>
            <ac:spMk id="3" creationId="{00000000-0000-0000-0000-000000000000}"/>
          </ac:spMkLst>
        </pc:spChg>
        <pc:spChg chg="mod">
          <ac:chgData name="Andrew Massa" userId="8efb8a0e1b13d44c" providerId="LiveId" clId="{B9E246D2-4ACA-488E-A30E-64BC982A8708}" dt="2026-10-19T19:57:34.827" v="205" actId="20577"/>
          <ac:spMkLst>
            <pc:docMk/>
            <pc:sldMk cId="0" sldId="263"/>
            <ac:spMk id="5" creationId="{00000000-0000-0000-0000-000000000000}"/>
          </ac:spMkLst>
        </pc:spChg>
        <pc:spChg chg="mod">
          <ac:chgData name="Andrew Massa" userId="8efb8a0e1b13d44c" providerId="LiveId" clId="{B9E246D2-4ACA-488E-A30E-64BC982A8708}" dt="2026-10-19T19:52:32.516" v="178" actId="20577"/>
          <ac:spMkLst>
            <pc:docMk/>
            <pc:sldMk cId="0" sldId="263"/>
            <ac:spMk id="6" creationId="{00000000-0000-0000-0000-000000000000}"/>
          </ac:spMkLst>
        </pc:spChg>
      </pc:sldChg>
      <pc:sldChg chg="addSp delSp modSp mod">
        <pc:chgData name="Andrew Massa" userId="8efb8a0e1b13d44c" providerId="LiveId" clId="{B9E246D2-4ACA-488E-A30E-64BC982A8708}" dt="2026-10-19T19:58:36.009" v="208" actId="20577"/>
        <pc:sldMkLst>
          <pc:docMk/>
          <pc:sldMk cId="0" sldId="264"/>
        </pc:sldMkLst>
        <pc:spChg chg="mod">
          <ac:chgData name="Andrew Massa" userId="8efb8a0e1b13d44c" providerId="LiveId" clId="{B9E246D2-4ACA-488E-A30E-64BC982A8708}" dt="2026-10-19T19:58:36.009" v="208" actId="20577"/>
          <ac:spMkLst>
            <pc:docMk/>
            <pc:sldMk cId="0" sldId="264"/>
            <ac:spMk id="10" creationId="{00000000-0000-0000-0000-000000000000}"/>
          </ac:spMkLst>
        </pc:spChg>
        <pc:spChg chg="mod">
          <ac:chgData name="Andrew Massa" userId="8efb8a0e1b13d44c" providerId="LiveId" clId="{B9E246D2-4ACA-488E-A30E-64BC982A8708}" dt="2026-10-19T19:12:32.552" v="134" actId="255"/>
          <ac:spMkLst>
            <pc:docMk/>
            <pc:sldMk cId="0" sldId="264"/>
            <ac:spMk id="11" creationId="{00000000-0000-0000-0000-000000000000}"/>
          </ac:spMkLst>
        </pc:spChg>
        <pc:spChg chg="add del mod">
          <ac:chgData name="Andrew Massa" userId="8efb8a0e1b13d44c" providerId="LiveId" clId="{B9E246D2-4ACA-488E-A30E-64BC982A8708}" dt="2026-10-19T19:12:26.001" v="133"/>
          <ac:spMkLst>
            <pc:docMk/>
            <pc:sldMk cId="0" sldId="264"/>
            <ac:spMk id="12" creationId="{A7BD71BF-0FA8-4019-4BE6-54804ACEF7C9}"/>
          </ac:spMkLst>
        </pc:spChg>
      </pc:sldChg>
      <pc:sldChg chg="modSp mod">
        <pc:chgData name="Andrew Massa" userId="8efb8a0e1b13d44c" providerId="LiveId" clId="{B9E246D2-4ACA-488E-A30E-64BC982A8708}" dt="2026-10-19T19:51:12.352" v="168" actId="20577"/>
        <pc:sldMkLst>
          <pc:docMk/>
          <pc:sldMk cId="0" sldId="265"/>
        </pc:sldMkLst>
        <pc:spChg chg="mod">
          <ac:chgData name="Andrew Massa" userId="8efb8a0e1b13d44c" providerId="LiveId" clId="{B9E246D2-4ACA-488E-A30E-64BC982A8708}" dt="2026-10-19T19:19:59.128" v="152" actId="20577"/>
          <ac:spMkLst>
            <pc:docMk/>
            <pc:sldMk cId="0" sldId="265"/>
            <ac:spMk id="2" creationId="{00000000-0000-0000-0000-000000000000}"/>
          </ac:spMkLst>
        </pc:spChg>
        <pc:spChg chg="mod">
          <ac:chgData name="Andrew Massa" userId="8efb8a0e1b13d44c" providerId="LiveId" clId="{B9E246D2-4ACA-488E-A30E-64BC982A8708}" dt="2026-10-19T19:51:12.352" v="168" actId="20577"/>
          <ac:spMkLst>
            <pc:docMk/>
            <pc:sldMk cId="0" sldId="265"/>
            <ac:spMk id="4" creationId="{00000000-0000-0000-0000-000000000000}"/>
          </ac:spMkLst>
        </pc:spChg>
        <pc:graphicFrameChg chg="modGraphic">
          <ac:chgData name="Andrew Massa" userId="8efb8a0e1b13d44c" providerId="LiveId" clId="{B9E246D2-4ACA-488E-A30E-64BC982A8708}" dt="2026-10-19T18:54:23.983" v="74" actId="20577"/>
          <ac:graphicFrameMkLst>
            <pc:docMk/>
            <pc:sldMk cId="0" sldId="265"/>
            <ac:graphicFrameMk id="3" creationId="{00000000-0000-0000-0000-000000000000}"/>
          </ac:graphicFrameMkLst>
        </pc:graphicFrameChg>
      </pc:sldChg>
      <pc:sldChg chg="delSp modSp mod">
        <pc:chgData name="Andrew Massa" userId="8efb8a0e1b13d44c" providerId="LiveId" clId="{B9E246D2-4ACA-488E-A30E-64BC982A8708}" dt="2026-10-19T19:58:09.030" v="207" actId="20577"/>
        <pc:sldMkLst>
          <pc:docMk/>
          <pc:sldMk cId="0" sldId="266"/>
        </pc:sldMkLst>
        <pc:spChg chg="mod">
          <ac:chgData name="Andrew Massa" userId="8efb8a0e1b13d44c" providerId="LiveId" clId="{B9E246D2-4ACA-488E-A30E-64BC982A8708}" dt="2026-10-19T18:38:29.021" v="66" actId="20577"/>
          <ac:spMkLst>
            <pc:docMk/>
            <pc:sldMk cId="0" sldId="266"/>
            <ac:spMk id="3" creationId="{00000000-0000-0000-0000-000000000000}"/>
          </ac:spMkLst>
        </pc:spChg>
        <pc:spChg chg="mod">
          <ac:chgData name="Andrew Massa" userId="8efb8a0e1b13d44c" providerId="LiveId" clId="{B9E246D2-4ACA-488E-A30E-64BC982A8708}" dt="2026-10-19T19:58:09.030" v="207" actId="20577"/>
          <ac:spMkLst>
            <pc:docMk/>
            <pc:sldMk cId="0" sldId="266"/>
            <ac:spMk id="6" creationId="{00000000-0000-0000-0000-000000000000}"/>
          </ac:spMkLst>
        </pc:spChg>
        <pc:spChg chg="mod">
          <ac:chgData name="Andrew Massa" userId="8efb8a0e1b13d44c" providerId="LiveId" clId="{B9E246D2-4ACA-488E-A30E-64BC982A8708}" dt="2026-10-19T19:57:56.970" v="206" actId="20577"/>
          <ac:spMkLst>
            <pc:docMk/>
            <pc:sldMk cId="0" sldId="266"/>
            <ac:spMk id="9" creationId="{00000000-0000-0000-0000-000000000000}"/>
          </ac:spMkLst>
        </pc:spChg>
        <pc:spChg chg="del">
          <ac:chgData name="Andrew Massa" userId="8efb8a0e1b13d44c" providerId="LiveId" clId="{B9E246D2-4ACA-488E-A30E-64BC982A8708}" dt="2026-10-19T19:48:33.887" v="153" actId="478"/>
          <ac:spMkLst>
            <pc:docMk/>
            <pc:sldMk cId="0" sldId="266"/>
            <ac:spMk id="10" creationId="{00000000-0000-0000-0000-000000000000}"/>
          </ac:spMkLst>
        </pc:spChg>
        <pc:spChg chg="del">
          <ac:chgData name="Andrew Massa" userId="8efb8a0e1b13d44c" providerId="LiveId" clId="{B9E246D2-4ACA-488E-A30E-64BC982A8708}" dt="2026-10-19T19:48:36.766" v="154" actId="478"/>
          <ac:spMkLst>
            <pc:docMk/>
            <pc:sldMk cId="0" sldId="266"/>
            <ac:spMk id="11" creationId="{00000000-0000-0000-0000-000000000000}"/>
          </ac:spMkLst>
        </pc:spChg>
        <pc:spChg chg="del">
          <ac:chgData name="Andrew Massa" userId="8efb8a0e1b13d44c" providerId="LiveId" clId="{B9E246D2-4ACA-488E-A30E-64BC982A8708}" dt="2026-10-19T19:48:38.532" v="155" actId="478"/>
          <ac:spMkLst>
            <pc:docMk/>
            <pc:sldMk cId="0" sldId="266"/>
            <ac:spMk id="12" creationId="{00000000-0000-0000-0000-000000000000}"/>
          </ac:spMkLst>
        </pc:spChg>
        <pc:spChg chg="mod">
          <ac:chgData name="Andrew Massa" userId="8efb8a0e1b13d44c" providerId="LiveId" clId="{B9E246D2-4ACA-488E-A30E-64BC982A8708}" dt="2026-10-19T19:49:25.007" v="161" actId="1076"/>
          <ac:spMkLst>
            <pc:docMk/>
            <pc:sldMk cId="0" sldId="266"/>
            <ac:spMk id="13" creationId="{00000000-0000-0000-0000-000000000000}"/>
          </ac:spMkLst>
        </pc:spChg>
        <pc:spChg chg="mod">
          <ac:chgData name="Andrew Massa" userId="8efb8a0e1b13d44c" providerId="LiveId" clId="{B9E246D2-4ACA-488E-A30E-64BC982A8708}" dt="2026-10-19T19:49:30.139" v="162" actId="1076"/>
          <ac:spMkLst>
            <pc:docMk/>
            <pc:sldMk cId="0" sldId="266"/>
            <ac:spMk id="14" creationId="{00000000-0000-0000-0000-000000000000}"/>
          </ac:spMkLst>
        </pc:spChg>
        <pc:spChg chg="mod">
          <ac:chgData name="Andrew Massa" userId="8efb8a0e1b13d44c" providerId="LiveId" clId="{B9E246D2-4ACA-488E-A30E-64BC982A8708}" dt="2026-10-19T19:49:35.140" v="163" actId="1076"/>
          <ac:spMkLst>
            <pc:docMk/>
            <pc:sldMk cId="0" sldId="266"/>
            <ac:spMk id="15" creationId="{00000000-0000-0000-0000-000000000000}"/>
          </ac:spMkLst>
        </pc:spChg>
      </pc:sldChg>
      <pc:sldChg chg="delSp modSp mod">
        <pc:chgData name="Andrew Massa" userId="8efb8a0e1b13d44c" providerId="LiveId" clId="{B9E246D2-4ACA-488E-A30E-64BC982A8708}" dt="2026-10-19T19:50:17.873" v="166" actId="478"/>
        <pc:sldMkLst>
          <pc:docMk/>
          <pc:sldMk cId="0" sldId="267"/>
        </pc:sldMkLst>
        <pc:spChg chg="del">
          <ac:chgData name="Andrew Massa" userId="8efb8a0e1b13d44c" providerId="LiveId" clId="{B9E246D2-4ACA-488E-A30E-64BC982A8708}" dt="2026-10-19T19:50:17.873" v="166" actId="478"/>
          <ac:spMkLst>
            <pc:docMk/>
            <pc:sldMk cId="0" sldId="267"/>
            <ac:spMk id="4" creationId="{00000000-0000-0000-0000-000000000000}"/>
          </ac:spMkLst>
        </pc:spChg>
        <pc:spChg chg="mod">
          <ac:chgData name="Andrew Massa" userId="8efb8a0e1b13d44c" providerId="LiveId" clId="{B9E246D2-4ACA-488E-A30E-64BC982A8708}" dt="2026-10-19T19:50:11.847" v="164" actId="1076"/>
          <ac:spMkLst>
            <pc:docMk/>
            <pc:sldMk cId="0" sldId="267"/>
            <ac:spMk id="5" creationId="{00000000-0000-0000-0000-000000000000}"/>
          </ac:spMkLst>
        </pc:spChg>
        <pc:spChg chg="mod">
          <ac:chgData name="Andrew Massa" userId="8efb8a0e1b13d44c" providerId="LiveId" clId="{B9E246D2-4ACA-488E-A30E-64BC982A8708}" dt="2026-10-19T19:50:16.066" v="165" actId="1076"/>
          <ac:spMkLst>
            <pc:docMk/>
            <pc:sldMk cId="0" sldId="267"/>
            <ac:spMk id="6" creationId="{00000000-0000-0000-0000-000000000000}"/>
          </ac:spMkLst>
        </pc:spChg>
      </pc:sldChg>
      <pc:sldChg chg="addSp delSp modSp add mod">
        <pc:chgData name="Andrew Massa" userId="8efb8a0e1b13d44c" providerId="LiveId" clId="{B9E246D2-4ACA-488E-A30E-64BC982A8708}" dt="2026-10-19T18:58:01.044" v="117"/>
        <pc:sldMkLst>
          <pc:docMk/>
          <pc:sldMk cId="4025131180" sldId="269"/>
        </pc:sldMkLst>
        <pc:spChg chg="mod">
          <ac:chgData name="Andrew Massa" userId="8efb8a0e1b13d44c" providerId="LiveId" clId="{B9E246D2-4ACA-488E-A30E-64BC982A8708}" dt="2026-10-19T18:55:28.388" v="85" actId="20577"/>
          <ac:spMkLst>
            <pc:docMk/>
            <pc:sldMk cId="4025131180" sldId="269"/>
            <ac:spMk id="2" creationId="{0BE2E64C-3765-CC7F-D180-286790694D89}"/>
          </ac:spMkLst>
        </pc:spChg>
        <pc:spChg chg="mod">
          <ac:chgData name="Andrew Massa" userId="8efb8a0e1b13d44c" providerId="LiveId" clId="{B9E246D2-4ACA-488E-A30E-64BC982A8708}" dt="2026-10-19T18:55:31.372" v="91" actId="20577"/>
          <ac:spMkLst>
            <pc:docMk/>
            <pc:sldMk cId="4025131180" sldId="269"/>
            <ac:spMk id="3" creationId="{A6E879FB-8784-958B-6F38-A3847BC7096E}"/>
          </ac:spMkLst>
        </pc:spChg>
        <pc:spChg chg="add mod">
          <ac:chgData name="Andrew Massa" userId="8efb8a0e1b13d44c" providerId="LiveId" clId="{B9E246D2-4ACA-488E-A30E-64BC982A8708}" dt="2026-10-19T18:58:01.044" v="117"/>
          <ac:spMkLst>
            <pc:docMk/>
            <pc:sldMk cId="4025131180" sldId="269"/>
            <ac:spMk id="5" creationId="{B51972A4-51DB-3A69-6049-FBAACFFD81C9}"/>
          </ac:spMkLst>
        </pc:spChg>
        <pc:graphicFrameChg chg="del modGraphic">
          <ac:chgData name="Andrew Massa" userId="8efb8a0e1b13d44c" providerId="LiveId" clId="{B9E246D2-4ACA-488E-A30E-64BC982A8708}" dt="2026-10-19T18:55:35.283" v="93" actId="478"/>
          <ac:graphicFrameMkLst>
            <pc:docMk/>
            <pc:sldMk cId="4025131180" sldId="269"/>
            <ac:graphicFrameMk id="4" creationId="{DC1539FE-952E-9BDE-FB9A-A8EA365828B2}"/>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267277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question: every utility customer loses power sometimes, and some lose far more than others. We wanted to know which investments actually buy reliability, and whether burying power lines is worth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Outage time is measured with SAIDI, the average minutes a customer is without power in a year. We use the version that excludes major event days, so it reflects how a utility runs on normal days. Median 108 minutes, worst 929 (Wheeling Power, West Virginia, 2022). That spread is what we try to explain.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Investor-owned utilities are paid by their customers, and state regulators approve what they spend. So the question of which spending buys reliability matters to everyone on this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kept only the IEEE version of SAIDI so every utility is measured the same way, and dropped Black Hills Power in Montana (30 to 47 customers), where one outage swings the numbers wildly.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X is a ratio, so big and small utilities can be compared fairly. Underground share uses FERC accounts 366 and 367 (underground conduit and cable) over 364 to 367 (adding poles and overhead wire). Maintenance uses accounts 593 and 594. Smart meters report outages automatically. Customers per circuit measures how many people lose power when one circuit fails.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Clustering matters because FERC reports per company, so a company in three states contributes three rows with the same underground share. Clustering tells the model those rows are not independent, which keeps the p-values honest.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one utility in one state in one year. The line keeps falling past 80 percent and dips below zero, which real outages cannot do; that is a limitation of a straight-line model.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the other variables constant, underground share drops from minus 29 to minus 22 minutes per 10 points, because part of the simple effect was really maintenance. The model warns about a large condition number; that comes from variables on very different scales, not real multicollinearity (the largest correlation between X variables is 0.32). Adjusted r squared of .28 is in the generally typical ranges for </a:t>
            </a:r>
            <a:r>
              <a:rPr lang="en-US"/>
              <a:t>ecological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variables, different outcome: outage minutes including major event days. The underground coefficient goes from minus 216 to minus 879. Median outage time doubles from 108 to 212 minutes once major events are included. Smart meters and customers per circuit become barely significant here, but with an R squared of 0.06 we do not build the story on them. Underground share is the only variable significant in every model.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Kentucky Power, at 3 percent underground, gains the most at 75 minutes. Alaska Electric gains nothing because it is already at the average, so its outages come from something else. Appalachian Power and Southwestern Electric Power appear twice because underground share is reported per company. These use the normal-day model; with major events included, savings would be about four times larger. They are predictions from a correlation, not guarantees.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most likely Q and A topics. Weather is handled only by excluding major event days.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 finding that held everywhere: underground share is significant in the simple model, the full model and the major events model. The open question for MSBA 503 is cost: burying lines is expensive, so the next step is cost per minute saved.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BC4F5-8ADF-C8A9-FCB0-0A02107F98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531D0B-BBFE-1C33-71EC-636098A4A4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8CC51A-8959-24A8-A327-4ABED9710E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A23E4E-A093-E183-4ACF-EC0A7A4DB19A}"/>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4649198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78520"/>
            <a:ext cx="10566400" cy="502890"/>
          </a:xfrm>
          <a:prstGeom prst="rect">
            <a:avLst/>
          </a:prstGeom>
          <a:noFill/>
          <a:ln/>
        </p:spPr>
        <p:txBody>
          <a:bodyPr wrap="square" lIns="0" tIns="0" rIns="0" bIns="0" rtlCol="0" anchor="t"/>
          <a:lstStyle>
            <a:lvl1pPr marL="0" indent="0" algn="l">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86211"/>
            <a:ext cx="10566400" cy="4058989"/>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78520"/>
            <a:ext cx="10566400" cy="502890"/>
          </a:xfrm>
          <a:prstGeom prst="rect">
            <a:avLst/>
          </a:prstGeom>
          <a:noFill/>
          <a:ln/>
        </p:spPr>
        <p:txBody>
          <a:bodyPr wrap="square" lIns="0" tIns="0" rIns="0" bIns="0" rtlCol="0" anchor="t"/>
          <a:lstStyle>
            <a:lvl1pPr marL="0" indent="0" algn="l">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86211"/>
            <a:ext cx="10566400" cy="4058989"/>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amassa96/MSBA_502/tree/main/Project"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github.com/jrcedano/MSBA-502-Utility-Reliability-Analysis/tree/main"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E8A33D"/>
                </a:solidFill>
                <a:latin typeface="IBM Plex Sans" pitchFamily="34" charset="0"/>
                <a:ea typeface="IBM Plex Sans" pitchFamily="34" charset="-122"/>
                <a:cs typeface="IBM Plex Sans" pitchFamily="34" charset="-120"/>
              </a:rPr>
              <a:t>MSBA 502</a:t>
            </a:r>
            <a:endParaRPr lang="en-US" sz="1400" dirty="0"/>
          </a:p>
        </p:txBody>
      </p:sp>
      <p:sp>
        <p:nvSpPr>
          <p:cNvPr id="3" name="Text 1"/>
          <p:cNvSpPr>
            <a:spLocks noGrp="1"/>
          </p:cNvSpPr>
          <p:nvPr>
            <p:ph type="title"/>
          </p:nvPr>
        </p:nvSpPr>
        <p:spPr>
          <a:xfrm>
            <a:off x="812800" y="2414339"/>
            <a:ext cx="10883392" cy="8255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6F4EE"/>
                </a:solidFill>
                <a:latin typeface="Source Serif 4" pitchFamily="18" charset="0"/>
                <a:ea typeface="Source Serif 4" pitchFamily="18" charset="-122"/>
                <a:cs typeface="Source Serif 4" pitchFamily="18" charset="-120"/>
              </a:rPr>
              <a:t>Burying the Lines</a:t>
            </a:r>
            <a:endParaRPr lang="en-US" sz="6000" dirty="0"/>
          </a:p>
        </p:txBody>
      </p:sp>
      <p:sp>
        <p:nvSpPr>
          <p:cNvPr id="4" name="Text 2"/>
          <p:cNvSpPr/>
          <p:nvPr/>
        </p:nvSpPr>
        <p:spPr>
          <a:xfrm>
            <a:off x="812800" y="3468439"/>
            <a:ext cx="8502650" cy="751780"/>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C9D3E3"/>
                </a:solidFill>
                <a:latin typeface="IBM Plex Sans" pitchFamily="34" charset="0"/>
                <a:ea typeface="IBM Plex Sans" pitchFamily="34" charset="-122"/>
                <a:cs typeface="IBM Plex Sans" pitchFamily="34" charset="-120"/>
              </a:rPr>
              <a:t>Do underground power lines reduce outages at U.S. investor-owned utilities?</a:t>
            </a:r>
            <a:endParaRPr lang="en-US" sz="2200" dirty="0"/>
          </a:p>
        </p:txBody>
      </p:sp>
      <p:sp>
        <p:nvSpPr>
          <p:cNvPr id="5" name="Text 3"/>
          <p:cNvSpPr/>
          <p:nvPr/>
        </p:nvSpPr>
        <p:spPr>
          <a:xfrm>
            <a:off x="812800" y="5547420"/>
            <a:ext cx="1088339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9D3E3"/>
                </a:solidFill>
                <a:latin typeface="IBM Plex Sans" pitchFamily="34" charset="0"/>
                <a:ea typeface="IBM Plex Sans" pitchFamily="34" charset="-122"/>
                <a:cs typeface="IBM Plex Sans" pitchFamily="34" charset="-120"/>
              </a:rPr>
              <a:t>Andrew Massa</a:t>
            </a:r>
            <a:endParaRPr lang="en-US" sz="1400" dirty="0"/>
          </a:p>
          <a:p>
            <a:pPr marL="0" indent="0" algn="l">
              <a:lnSpc>
                <a:spcPts val="1960"/>
              </a:lnSpc>
              <a:buNone/>
            </a:pPr>
            <a:r>
              <a:rPr lang="en-US" sz="1400" dirty="0">
                <a:solidFill>
                  <a:srgbClr val="C9D3E3"/>
                </a:solidFill>
                <a:latin typeface="IBM Plex Sans" pitchFamily="34" charset="0"/>
                <a:ea typeface="IBM Plex Sans" pitchFamily="34" charset="-122"/>
                <a:cs typeface="IBM Plex Sans" pitchFamily="34" charset="-120"/>
              </a:rPr>
              <a:t>Jeremiah Cedano </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65F12"/>
                </a:solidFill>
                <a:latin typeface="IBM Plex Sans" pitchFamily="34" charset="0"/>
                <a:ea typeface="IBM Plex Sans" pitchFamily="34" charset="-122"/>
                <a:cs typeface="IBM Plex Sans" pitchFamily="34" charset="-120"/>
              </a:rPr>
              <a:t>THE PROBLEM</a:t>
            </a:r>
            <a:endParaRPr lang="en-US" sz="1200" dirty="0"/>
          </a:p>
        </p:txBody>
      </p:sp>
      <p:sp>
        <p:nvSpPr>
          <p:cNvPr id="3" name="Text 1"/>
          <p:cNvSpPr>
            <a:spLocks noGrp="1"/>
          </p:cNvSpPr>
          <p:nvPr>
            <p:ph type="title"/>
          </p:nvPr>
        </p:nvSpPr>
        <p:spPr>
          <a:xfrm>
            <a:off x="812800" y="1178520"/>
            <a:ext cx="981075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Some utilities keep the lights on. Others leave customers in the dark for hours.</a:t>
            </a:r>
            <a:endParaRPr lang="en-US" sz="3600" dirty="0"/>
          </a:p>
        </p:txBody>
      </p:sp>
      <p:sp>
        <p:nvSpPr>
          <p:cNvPr id="4" name="Shape 2"/>
          <p:cNvSpPr/>
          <p:nvPr/>
        </p:nvSpPr>
        <p:spPr>
          <a:xfrm>
            <a:off x="812800" y="3162300"/>
            <a:ext cx="5130800" cy="0"/>
          </a:xfrm>
          <a:prstGeom prst="line">
            <a:avLst/>
          </a:prstGeom>
          <a:noFill/>
          <a:ln w="25400">
            <a:solidFill>
              <a:srgbClr val="14213D"/>
            </a:solidFill>
            <a:prstDash val="solid"/>
          </a:ln>
        </p:spPr>
        <p:txBody>
          <a:bodyPr/>
          <a:lstStyle/>
          <a:p>
            <a:endParaRPr lang="en-US"/>
          </a:p>
        </p:txBody>
      </p:sp>
      <p:sp>
        <p:nvSpPr>
          <p:cNvPr id="5" name="Text 3"/>
          <p:cNvSpPr/>
          <p:nvPr/>
        </p:nvSpPr>
        <p:spPr>
          <a:xfrm>
            <a:off x="812800" y="3378200"/>
            <a:ext cx="5284724"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14213D"/>
                </a:solidFill>
                <a:latin typeface="Source Serif 4" pitchFamily="18" charset="0"/>
                <a:ea typeface="Source Serif 4" pitchFamily="18" charset="-122"/>
                <a:cs typeface="Source Serif 4" pitchFamily="18" charset="-120"/>
              </a:rPr>
              <a:t>108 min</a:t>
            </a:r>
            <a:endParaRPr lang="en-US" sz="6000" dirty="0"/>
          </a:p>
        </p:txBody>
      </p:sp>
      <p:sp>
        <p:nvSpPr>
          <p:cNvPr id="6" name="Text 4"/>
          <p:cNvSpPr/>
          <p:nvPr/>
        </p:nvSpPr>
        <p:spPr>
          <a:xfrm>
            <a:off x="812800" y="4191000"/>
            <a:ext cx="5284724"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656"/>
                </a:solidFill>
                <a:latin typeface="IBM Plex Sans" pitchFamily="34" charset="0"/>
                <a:ea typeface="IBM Plex Sans" pitchFamily="34" charset="-122"/>
                <a:cs typeface="IBM Plex Sans" pitchFamily="34" charset="-120"/>
              </a:rPr>
              <a:t>median outage time per customer per year, normal days</a:t>
            </a:r>
            <a:endParaRPr lang="en-US" sz="1600" dirty="0"/>
          </a:p>
        </p:txBody>
      </p:sp>
      <p:sp>
        <p:nvSpPr>
          <p:cNvPr id="7" name="Shape 5"/>
          <p:cNvSpPr/>
          <p:nvPr/>
        </p:nvSpPr>
        <p:spPr>
          <a:xfrm>
            <a:off x="6248400" y="3162300"/>
            <a:ext cx="5130800" cy="0"/>
          </a:xfrm>
          <a:prstGeom prst="line">
            <a:avLst/>
          </a:prstGeom>
          <a:noFill/>
          <a:ln w="25400">
            <a:solidFill>
              <a:srgbClr val="A65F12"/>
            </a:solidFill>
            <a:prstDash val="solid"/>
          </a:ln>
        </p:spPr>
        <p:txBody>
          <a:bodyPr/>
          <a:lstStyle/>
          <a:p>
            <a:endParaRPr lang="en-US"/>
          </a:p>
        </p:txBody>
      </p:sp>
      <p:sp>
        <p:nvSpPr>
          <p:cNvPr id="8" name="Text 6"/>
          <p:cNvSpPr/>
          <p:nvPr/>
        </p:nvSpPr>
        <p:spPr>
          <a:xfrm>
            <a:off x="6248400" y="3378200"/>
            <a:ext cx="5284724"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A65F12"/>
                </a:solidFill>
                <a:latin typeface="Source Serif 4" pitchFamily="18" charset="0"/>
                <a:ea typeface="Source Serif 4" pitchFamily="18" charset="-122"/>
                <a:cs typeface="Source Serif 4" pitchFamily="18" charset="-120"/>
              </a:rPr>
              <a:t>929 min</a:t>
            </a:r>
            <a:endParaRPr lang="en-US" sz="6000" dirty="0"/>
          </a:p>
        </p:txBody>
      </p:sp>
      <p:sp>
        <p:nvSpPr>
          <p:cNvPr id="9" name="Text 7"/>
          <p:cNvSpPr/>
          <p:nvPr/>
        </p:nvSpPr>
        <p:spPr>
          <a:xfrm>
            <a:off x="6248400" y="4191000"/>
            <a:ext cx="5284724"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656"/>
                </a:solidFill>
                <a:latin typeface="IBM Plex Sans" pitchFamily="34" charset="0"/>
                <a:ea typeface="IBM Plex Sans" pitchFamily="34" charset="-122"/>
                <a:cs typeface="IBM Plex Sans" pitchFamily="34" charset="-120"/>
              </a:rPr>
              <a:t>worst utility-year in our data, almost 9 times the median</a:t>
            </a:r>
            <a:endParaRPr lang="en-US" sz="1600" dirty="0"/>
          </a:p>
        </p:txBody>
      </p:sp>
      <p:sp>
        <p:nvSpPr>
          <p:cNvPr id="10" name="Text 8"/>
          <p:cNvSpPr/>
          <p:nvPr/>
        </p:nvSpPr>
        <p:spPr>
          <a:xfrm>
            <a:off x="812800" y="5725170"/>
            <a:ext cx="10883392" cy="34543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14213D"/>
                </a:solidFill>
                <a:latin typeface="IBM Plex Sans" pitchFamily="34" charset="0"/>
                <a:ea typeface="IBM Plex Sans" pitchFamily="34" charset="-122"/>
                <a:cs typeface="IBM Plex Sans" pitchFamily="34" charset="-120"/>
              </a:rPr>
              <a:t>Question: which investments actually reduce outage minutes?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65F12"/>
                </a:solidFill>
                <a:latin typeface="IBM Plex Sans" pitchFamily="34" charset="0"/>
                <a:ea typeface="IBM Plex Sans" pitchFamily="34" charset="-122"/>
                <a:cs typeface="IBM Plex Sans" pitchFamily="34" charset="-120"/>
              </a:rPr>
              <a:t>WHO CARES</a:t>
            </a:r>
            <a:endParaRPr lang="en-US" sz="1200" dirty="0"/>
          </a:p>
        </p:txBody>
      </p:sp>
      <p:sp>
        <p:nvSpPr>
          <p:cNvPr id="3" name="Text 1"/>
          <p:cNvSpPr>
            <a:spLocks noGrp="1"/>
          </p:cNvSpPr>
          <p:nvPr>
            <p:ph type="title"/>
          </p:nvPr>
        </p:nvSpPr>
        <p:spPr>
          <a:xfrm>
            <a:off x="812800" y="11785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Four groups decide or pay for reliability</a:t>
            </a:r>
            <a:endParaRPr lang="en-US" sz="3600" dirty="0"/>
          </a:p>
        </p:txBody>
      </p:sp>
      <p:sp>
        <p:nvSpPr>
          <p:cNvPr id="4" name="Shape 2"/>
          <p:cNvSpPr/>
          <p:nvPr/>
        </p:nvSpPr>
        <p:spPr>
          <a:xfrm>
            <a:off x="815975" y="1989386"/>
            <a:ext cx="2482850" cy="2343001"/>
          </a:xfrm>
          <a:prstGeom prst="roundRect">
            <a:avLst>
              <a:gd name="adj" fmla="val 4201"/>
            </a:avLst>
          </a:prstGeom>
          <a:solidFill>
            <a:srgbClr val="FFFFFF"/>
          </a:solidFill>
          <a:ln w="6350">
            <a:solidFill>
              <a:srgbClr val="DCD8CC"/>
            </a:solidFill>
            <a:prstDash val="solid"/>
          </a:ln>
        </p:spPr>
        <p:txBody>
          <a:bodyPr/>
          <a:lstStyle/>
          <a:p>
            <a:endParaRPr lang="en-US"/>
          </a:p>
        </p:txBody>
      </p:sp>
      <p:pic>
        <p:nvPicPr>
          <p:cNvPr id="5" name="Image 0" descr="Verified"/>
          <p:cNvPicPr>
            <a:picLocks noChangeAspect="1"/>
          </p:cNvPicPr>
          <p:nvPr/>
        </p:nvPicPr>
        <p:blipFill>
          <a:blip r:embed="rId3"/>
          <a:srcRect/>
          <a:stretch/>
        </p:blipFill>
        <p:spPr>
          <a:xfrm>
            <a:off x="1073150" y="2246561"/>
            <a:ext cx="355600" cy="355600"/>
          </a:xfrm>
          <a:prstGeom prst="rect">
            <a:avLst/>
          </a:prstGeom>
        </p:spPr>
      </p:pic>
      <p:sp>
        <p:nvSpPr>
          <p:cNvPr id="6" name="Text 3"/>
          <p:cNvSpPr/>
          <p:nvPr/>
        </p:nvSpPr>
        <p:spPr>
          <a:xfrm>
            <a:off x="1073150" y="2703761"/>
            <a:ext cx="20275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Regulators</a:t>
            </a:r>
            <a:endParaRPr lang="en-US" sz="1800" dirty="0"/>
          </a:p>
        </p:txBody>
      </p:sp>
      <p:sp>
        <p:nvSpPr>
          <p:cNvPr id="7" name="Text 4"/>
          <p:cNvSpPr/>
          <p:nvPr/>
        </p:nvSpPr>
        <p:spPr>
          <a:xfrm>
            <a:off x="1073150" y="3079651"/>
            <a:ext cx="2027555" cy="102096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D4656"/>
                </a:solidFill>
                <a:latin typeface="IBM Plex Sans" pitchFamily="34" charset="0"/>
                <a:ea typeface="IBM Plex Sans" pitchFamily="34" charset="-122"/>
                <a:cs typeface="IBM Plex Sans" pitchFamily="34" charset="-120"/>
              </a:rPr>
              <a:t>State commissions approve utility spending and set reliability targets</a:t>
            </a:r>
            <a:endParaRPr lang="en-US" sz="1400" dirty="0"/>
          </a:p>
        </p:txBody>
      </p:sp>
      <p:sp>
        <p:nvSpPr>
          <p:cNvPr id="8" name="Shape 5"/>
          <p:cNvSpPr/>
          <p:nvPr/>
        </p:nvSpPr>
        <p:spPr>
          <a:xfrm>
            <a:off x="3508375" y="1989386"/>
            <a:ext cx="2482850" cy="2343001"/>
          </a:xfrm>
          <a:prstGeom prst="roundRect">
            <a:avLst>
              <a:gd name="adj" fmla="val 4201"/>
            </a:avLst>
          </a:prstGeom>
          <a:solidFill>
            <a:srgbClr val="FFFFFF"/>
          </a:solidFill>
          <a:ln w="6350">
            <a:solidFill>
              <a:srgbClr val="DCD8CC"/>
            </a:solidFill>
            <a:prstDash val="solid"/>
          </a:ln>
        </p:spPr>
        <p:txBody>
          <a:bodyPr/>
          <a:lstStyle/>
          <a:p>
            <a:endParaRPr lang="en-US"/>
          </a:p>
        </p:txBody>
      </p:sp>
      <p:pic>
        <p:nvPicPr>
          <p:cNvPr id="9" name="Image 1" descr="Settings"/>
          <p:cNvPicPr>
            <a:picLocks noChangeAspect="1"/>
          </p:cNvPicPr>
          <p:nvPr/>
        </p:nvPicPr>
        <p:blipFill>
          <a:blip r:embed="rId4"/>
          <a:srcRect/>
          <a:stretch/>
        </p:blipFill>
        <p:spPr>
          <a:xfrm>
            <a:off x="3765550" y="2246561"/>
            <a:ext cx="355600" cy="355600"/>
          </a:xfrm>
          <a:prstGeom prst="rect">
            <a:avLst/>
          </a:prstGeom>
        </p:spPr>
      </p:pic>
      <p:sp>
        <p:nvSpPr>
          <p:cNvPr id="10" name="Text 6"/>
          <p:cNvSpPr/>
          <p:nvPr/>
        </p:nvSpPr>
        <p:spPr>
          <a:xfrm>
            <a:off x="3765550" y="2703761"/>
            <a:ext cx="20275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Executives</a:t>
            </a:r>
            <a:endParaRPr lang="en-US" sz="1800" dirty="0"/>
          </a:p>
        </p:txBody>
      </p:sp>
      <p:sp>
        <p:nvSpPr>
          <p:cNvPr id="11" name="Text 7"/>
          <p:cNvSpPr/>
          <p:nvPr/>
        </p:nvSpPr>
        <p:spPr>
          <a:xfrm>
            <a:off x="3765550" y="3079651"/>
            <a:ext cx="2027555"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D4656"/>
                </a:solidFill>
                <a:latin typeface="IBM Plex Sans" pitchFamily="34" charset="0"/>
                <a:ea typeface="IBM Plex Sans" pitchFamily="34" charset="-122"/>
                <a:cs typeface="IBM Plex Sans" pitchFamily="34" charset="-120"/>
              </a:rPr>
              <a:t>Utility leaders choose where capital and maintenance dollars go</a:t>
            </a:r>
            <a:endParaRPr lang="en-US" sz="1400" dirty="0"/>
          </a:p>
        </p:txBody>
      </p:sp>
      <p:sp>
        <p:nvSpPr>
          <p:cNvPr id="12" name="Shape 8"/>
          <p:cNvSpPr/>
          <p:nvPr/>
        </p:nvSpPr>
        <p:spPr>
          <a:xfrm>
            <a:off x="6200775" y="1989386"/>
            <a:ext cx="2482850" cy="2343001"/>
          </a:xfrm>
          <a:prstGeom prst="roundRect">
            <a:avLst>
              <a:gd name="adj" fmla="val 4201"/>
            </a:avLst>
          </a:prstGeom>
          <a:solidFill>
            <a:srgbClr val="FFFFFF"/>
          </a:solidFill>
          <a:ln w="6350">
            <a:solidFill>
              <a:srgbClr val="DCD8CC"/>
            </a:solidFill>
            <a:prstDash val="solid"/>
          </a:ln>
        </p:spPr>
        <p:txBody>
          <a:bodyPr/>
          <a:lstStyle/>
          <a:p>
            <a:endParaRPr lang="en-US"/>
          </a:p>
        </p:txBody>
      </p:sp>
      <p:pic>
        <p:nvPicPr>
          <p:cNvPr id="13" name="Image 2" descr="Chart"/>
          <p:cNvPicPr>
            <a:picLocks noChangeAspect="1"/>
          </p:cNvPicPr>
          <p:nvPr/>
        </p:nvPicPr>
        <p:blipFill>
          <a:blip r:embed="rId5"/>
          <a:srcRect/>
          <a:stretch/>
        </p:blipFill>
        <p:spPr>
          <a:xfrm>
            <a:off x="6457950" y="2246561"/>
            <a:ext cx="355600" cy="355600"/>
          </a:xfrm>
          <a:prstGeom prst="rect">
            <a:avLst/>
          </a:prstGeom>
        </p:spPr>
      </p:pic>
      <p:sp>
        <p:nvSpPr>
          <p:cNvPr id="14" name="Text 9"/>
          <p:cNvSpPr/>
          <p:nvPr/>
        </p:nvSpPr>
        <p:spPr>
          <a:xfrm>
            <a:off x="6457950" y="2703761"/>
            <a:ext cx="20275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Investors</a:t>
            </a:r>
            <a:endParaRPr lang="en-US" sz="1800" dirty="0"/>
          </a:p>
        </p:txBody>
      </p:sp>
      <p:sp>
        <p:nvSpPr>
          <p:cNvPr id="15" name="Text 10"/>
          <p:cNvSpPr/>
          <p:nvPr/>
        </p:nvSpPr>
        <p:spPr>
          <a:xfrm>
            <a:off x="6457950" y="3079651"/>
            <a:ext cx="2027555" cy="102096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D4656"/>
                </a:solidFill>
                <a:latin typeface="IBM Plex Sans" pitchFamily="34" charset="0"/>
                <a:ea typeface="IBM Plex Sans" pitchFamily="34" charset="-122"/>
                <a:cs typeface="IBM Plex Sans" pitchFamily="34" charset="-120"/>
              </a:rPr>
              <a:t>Spending decisions shape a utility’s costs and how regulators treat it</a:t>
            </a:r>
            <a:endParaRPr lang="en-US" sz="1400" dirty="0"/>
          </a:p>
        </p:txBody>
      </p:sp>
      <p:sp>
        <p:nvSpPr>
          <p:cNvPr id="16" name="Shape 11"/>
          <p:cNvSpPr/>
          <p:nvPr/>
        </p:nvSpPr>
        <p:spPr>
          <a:xfrm>
            <a:off x="8893175" y="1989386"/>
            <a:ext cx="2482850" cy="2343001"/>
          </a:xfrm>
          <a:prstGeom prst="roundRect">
            <a:avLst>
              <a:gd name="adj" fmla="val 4201"/>
            </a:avLst>
          </a:prstGeom>
          <a:solidFill>
            <a:srgbClr val="FFFFFF"/>
          </a:solidFill>
          <a:ln w="6350">
            <a:solidFill>
              <a:srgbClr val="DCD8CC"/>
            </a:solidFill>
            <a:prstDash val="solid"/>
          </a:ln>
        </p:spPr>
        <p:txBody>
          <a:bodyPr/>
          <a:lstStyle/>
          <a:p>
            <a:endParaRPr lang="en-US"/>
          </a:p>
        </p:txBody>
      </p:sp>
      <p:pic>
        <p:nvPicPr>
          <p:cNvPr id="17" name="Image 3" descr="Home"/>
          <p:cNvPicPr>
            <a:picLocks noChangeAspect="1"/>
          </p:cNvPicPr>
          <p:nvPr/>
        </p:nvPicPr>
        <p:blipFill>
          <a:blip r:embed="rId6"/>
          <a:srcRect/>
          <a:stretch/>
        </p:blipFill>
        <p:spPr>
          <a:xfrm>
            <a:off x="9150350" y="2246561"/>
            <a:ext cx="355600" cy="355600"/>
          </a:xfrm>
          <a:prstGeom prst="rect">
            <a:avLst/>
          </a:prstGeom>
        </p:spPr>
      </p:pic>
      <p:sp>
        <p:nvSpPr>
          <p:cNvPr id="18" name="Text 12"/>
          <p:cNvSpPr/>
          <p:nvPr/>
        </p:nvSpPr>
        <p:spPr>
          <a:xfrm>
            <a:off x="9150350" y="2703761"/>
            <a:ext cx="20275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Customers</a:t>
            </a:r>
            <a:endParaRPr lang="en-US" sz="1800" dirty="0"/>
          </a:p>
        </p:txBody>
      </p:sp>
      <p:sp>
        <p:nvSpPr>
          <p:cNvPr id="19" name="Text 13"/>
          <p:cNvSpPr/>
          <p:nvPr/>
        </p:nvSpPr>
        <p:spPr>
          <a:xfrm>
            <a:off x="9150350" y="3079651"/>
            <a:ext cx="2027555" cy="102096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D4656"/>
                </a:solidFill>
                <a:latin typeface="IBM Plex Sans" pitchFamily="34" charset="0"/>
                <a:ea typeface="IBM Plex Sans" pitchFamily="34" charset="-122"/>
                <a:cs typeface="IBM Plex Sans" pitchFamily="34" charset="-120"/>
              </a:rPr>
              <a:t>They live with the outages and pay for upgrades through their bills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65F12"/>
                </a:solidFill>
                <a:latin typeface="IBM Plex Sans" pitchFamily="34" charset="0"/>
                <a:ea typeface="IBM Plex Sans" pitchFamily="34" charset="-122"/>
                <a:cs typeface="IBM Plex Sans" pitchFamily="34" charset="-120"/>
              </a:rPr>
              <a:t>DATA</a:t>
            </a:r>
            <a:endParaRPr lang="en-US" sz="1200" dirty="0"/>
          </a:p>
        </p:txBody>
      </p:sp>
      <p:sp>
        <p:nvSpPr>
          <p:cNvPr id="3" name="Text 1"/>
          <p:cNvSpPr>
            <a:spLocks noGrp="1"/>
          </p:cNvSpPr>
          <p:nvPr>
            <p:ph type="title"/>
          </p:nvPr>
        </p:nvSpPr>
        <p:spPr>
          <a:xfrm>
            <a:off x="812800" y="1178520"/>
            <a:ext cx="10883392"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Two federal sources, linked company by company</a:t>
            </a:r>
            <a:endParaRPr lang="en-US" sz="3600" dirty="0"/>
          </a:p>
        </p:txBody>
      </p:sp>
      <p:sp>
        <p:nvSpPr>
          <p:cNvPr id="4" name="Shape 2"/>
          <p:cNvSpPr/>
          <p:nvPr/>
        </p:nvSpPr>
        <p:spPr>
          <a:xfrm>
            <a:off x="815975" y="2901355"/>
            <a:ext cx="3418384" cy="1476970"/>
          </a:xfrm>
          <a:prstGeom prst="roundRect">
            <a:avLst>
              <a:gd name="adj" fmla="val 6664"/>
            </a:avLst>
          </a:prstGeom>
          <a:solidFill>
            <a:srgbClr val="FFFFFF"/>
          </a:solidFill>
          <a:ln w="6350">
            <a:solidFill>
              <a:srgbClr val="DCD8CC"/>
            </a:solidFill>
            <a:prstDash val="solid"/>
          </a:ln>
        </p:spPr>
        <p:txBody>
          <a:bodyPr/>
          <a:lstStyle/>
          <a:p>
            <a:endParaRPr lang="en-US" dirty="0"/>
          </a:p>
        </p:txBody>
      </p:sp>
      <p:sp>
        <p:nvSpPr>
          <p:cNvPr id="5" name="Text 3"/>
          <p:cNvSpPr/>
          <p:nvPr/>
        </p:nvSpPr>
        <p:spPr>
          <a:xfrm>
            <a:off x="1047750" y="3133130"/>
            <a:ext cx="3043479"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EIA Forms</a:t>
            </a:r>
            <a:endParaRPr lang="en-US" sz="1600" dirty="0"/>
          </a:p>
        </p:txBody>
      </p:sp>
      <p:sp>
        <p:nvSpPr>
          <p:cNvPr id="6" name="Text 4"/>
          <p:cNvSpPr/>
          <p:nvPr/>
        </p:nvSpPr>
        <p:spPr>
          <a:xfrm>
            <a:off x="1047750" y="3453160"/>
            <a:ext cx="3043479" cy="71879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D4656"/>
                </a:solidFill>
                <a:latin typeface="IBM Plex Sans" pitchFamily="34" charset="0"/>
                <a:ea typeface="IBM Plex Sans" pitchFamily="34" charset="-122"/>
                <a:cs typeface="IBM Plex Sans" pitchFamily="34" charset="-120"/>
              </a:rPr>
              <a:t>Outage minutes, customers, smart meters, circuits (per utility, state and year)</a:t>
            </a:r>
            <a:endParaRPr lang="en-US" sz="1300" dirty="0"/>
          </a:p>
        </p:txBody>
      </p:sp>
      <p:sp>
        <p:nvSpPr>
          <p:cNvPr id="7" name="Shape 5"/>
          <p:cNvSpPr/>
          <p:nvPr/>
        </p:nvSpPr>
        <p:spPr>
          <a:xfrm>
            <a:off x="4393109" y="2901355"/>
            <a:ext cx="3418433" cy="1476970"/>
          </a:xfrm>
          <a:prstGeom prst="roundRect">
            <a:avLst>
              <a:gd name="adj" fmla="val 6664"/>
            </a:avLst>
          </a:prstGeom>
          <a:solidFill>
            <a:srgbClr val="FFFFFF"/>
          </a:solidFill>
          <a:ln w="6350">
            <a:solidFill>
              <a:srgbClr val="DCD8CC"/>
            </a:solidFill>
            <a:prstDash val="solid"/>
          </a:ln>
        </p:spPr>
        <p:txBody>
          <a:bodyPr/>
          <a:lstStyle/>
          <a:p>
            <a:endParaRPr lang="en-US"/>
          </a:p>
        </p:txBody>
      </p:sp>
      <p:sp>
        <p:nvSpPr>
          <p:cNvPr id="8" name="Text 6"/>
          <p:cNvSpPr/>
          <p:nvPr/>
        </p:nvSpPr>
        <p:spPr>
          <a:xfrm>
            <a:off x="4624884" y="3133130"/>
            <a:ext cx="304353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FERC Forms</a:t>
            </a:r>
            <a:endParaRPr lang="en-US" sz="1600" dirty="0"/>
          </a:p>
        </p:txBody>
      </p:sp>
      <p:sp>
        <p:nvSpPr>
          <p:cNvPr id="9" name="Text 7"/>
          <p:cNvSpPr/>
          <p:nvPr/>
        </p:nvSpPr>
        <p:spPr>
          <a:xfrm>
            <a:off x="4624884" y="3453160"/>
            <a:ext cx="3043530" cy="71879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D4656"/>
                </a:solidFill>
                <a:latin typeface="IBM Plex Sans" pitchFamily="34" charset="0"/>
                <a:ea typeface="IBM Plex Sans" pitchFamily="34" charset="-122"/>
                <a:cs typeface="IBM Plex Sans" pitchFamily="34" charset="-120"/>
              </a:rPr>
              <a:t>Dollars in overhead and underground lines, line maintenance spending (per company and year)</a:t>
            </a:r>
            <a:endParaRPr lang="en-US" sz="1300" dirty="0"/>
          </a:p>
        </p:txBody>
      </p:sp>
      <p:sp>
        <p:nvSpPr>
          <p:cNvPr id="10" name="Shape 8"/>
          <p:cNvSpPr/>
          <p:nvPr/>
        </p:nvSpPr>
        <p:spPr>
          <a:xfrm>
            <a:off x="7967117" y="2898180"/>
            <a:ext cx="3412083" cy="1483320"/>
          </a:xfrm>
          <a:prstGeom prst="roundRect">
            <a:avLst>
              <a:gd name="adj" fmla="val 6849"/>
            </a:avLst>
          </a:prstGeom>
          <a:solidFill>
            <a:srgbClr val="14213D"/>
          </a:solidFill>
          <a:ln/>
        </p:spPr>
        <p:txBody>
          <a:bodyPr/>
          <a:lstStyle/>
          <a:p>
            <a:endParaRPr lang="en-US"/>
          </a:p>
        </p:txBody>
      </p:sp>
      <p:sp>
        <p:nvSpPr>
          <p:cNvPr id="11" name="Text 9"/>
          <p:cNvSpPr/>
          <p:nvPr/>
        </p:nvSpPr>
        <p:spPr>
          <a:xfrm>
            <a:off x="8195717" y="3126780"/>
            <a:ext cx="304353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6F4EE"/>
                </a:solidFill>
                <a:latin typeface="IBM Plex Sans" pitchFamily="34" charset="0"/>
                <a:ea typeface="IBM Plex Sans" pitchFamily="34" charset="-122"/>
                <a:cs typeface="IBM Plex Sans" pitchFamily="34" charset="-120"/>
              </a:rPr>
              <a:t>PUDL crosswalk</a:t>
            </a:r>
            <a:endParaRPr lang="en-US" sz="1600" dirty="0"/>
          </a:p>
        </p:txBody>
      </p:sp>
      <p:sp>
        <p:nvSpPr>
          <p:cNvPr id="12" name="Text 10"/>
          <p:cNvSpPr/>
          <p:nvPr/>
        </p:nvSpPr>
        <p:spPr>
          <a:xfrm>
            <a:off x="8195717" y="3446810"/>
            <a:ext cx="3043530"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C9D3E3"/>
                </a:solidFill>
                <a:latin typeface="IBM Plex Sans" pitchFamily="34" charset="0"/>
                <a:ea typeface="IBM Plex Sans" pitchFamily="34" charset="-122"/>
                <a:cs typeface="IBM Plex Sans" pitchFamily="34" charset="-120"/>
              </a:rPr>
              <a:t>Matches each company’s FERC ID to its EIA ID so the two sources join</a:t>
            </a:r>
            <a:endParaRPr lang="en-US" sz="1300" dirty="0"/>
          </a:p>
        </p:txBody>
      </p:sp>
      <p:sp>
        <p:nvSpPr>
          <p:cNvPr id="13" name="Shape 11"/>
          <p:cNvSpPr/>
          <p:nvPr/>
        </p:nvSpPr>
        <p:spPr>
          <a:xfrm>
            <a:off x="825500" y="5095329"/>
            <a:ext cx="0" cy="949871"/>
          </a:xfrm>
          <a:prstGeom prst="line">
            <a:avLst/>
          </a:prstGeom>
          <a:noFill/>
          <a:ln w="25400">
            <a:solidFill>
              <a:srgbClr val="B9BCC2"/>
            </a:solidFill>
            <a:prstDash val="solid"/>
          </a:ln>
        </p:spPr>
        <p:txBody>
          <a:bodyPr/>
          <a:lstStyle/>
          <a:p>
            <a:endParaRPr lang="en-US"/>
          </a:p>
        </p:txBody>
      </p:sp>
      <p:sp>
        <p:nvSpPr>
          <p:cNvPr id="14" name="Text 12"/>
          <p:cNvSpPr/>
          <p:nvPr/>
        </p:nvSpPr>
        <p:spPr>
          <a:xfrm>
            <a:off x="990600" y="5095329"/>
            <a:ext cx="2537714"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4213D"/>
                </a:solidFill>
                <a:latin typeface="Source Serif 4" pitchFamily="18" charset="0"/>
                <a:ea typeface="Source Serif 4" pitchFamily="18" charset="-122"/>
                <a:cs typeface="Source Serif 4" pitchFamily="18" charset="-120"/>
              </a:rPr>
              <a:t>845</a:t>
            </a:r>
            <a:endParaRPr lang="en-US" sz="2800" dirty="0"/>
          </a:p>
        </p:txBody>
      </p:sp>
      <p:sp>
        <p:nvSpPr>
          <p:cNvPr id="15" name="Text 13"/>
          <p:cNvSpPr/>
          <p:nvPr/>
        </p:nvSpPr>
        <p:spPr>
          <a:xfrm>
            <a:off x="990600" y="5618559"/>
            <a:ext cx="253771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656"/>
                </a:solidFill>
                <a:latin typeface="IBM Plex Sans" pitchFamily="34" charset="0"/>
                <a:ea typeface="IBM Plex Sans" pitchFamily="34" charset="-122"/>
                <a:cs typeface="IBM Plex Sans" pitchFamily="34" charset="-120"/>
              </a:rPr>
              <a:t>investor-owned rows with outage data, 2021–2025</a:t>
            </a:r>
            <a:endParaRPr lang="en-US" sz="1200" dirty="0"/>
          </a:p>
        </p:txBody>
      </p:sp>
      <p:sp>
        <p:nvSpPr>
          <p:cNvPr id="16" name="Shape 14"/>
          <p:cNvSpPr/>
          <p:nvPr/>
        </p:nvSpPr>
        <p:spPr>
          <a:xfrm>
            <a:off x="3467100" y="5095329"/>
            <a:ext cx="0" cy="949871"/>
          </a:xfrm>
          <a:prstGeom prst="line">
            <a:avLst/>
          </a:prstGeom>
          <a:noFill/>
          <a:ln w="25400">
            <a:solidFill>
              <a:srgbClr val="B9BCC2"/>
            </a:solidFill>
            <a:prstDash val="solid"/>
          </a:ln>
        </p:spPr>
        <p:txBody>
          <a:bodyPr/>
          <a:lstStyle/>
          <a:p>
            <a:endParaRPr lang="en-US"/>
          </a:p>
        </p:txBody>
      </p:sp>
      <p:sp>
        <p:nvSpPr>
          <p:cNvPr id="17" name="Text 15"/>
          <p:cNvSpPr/>
          <p:nvPr/>
        </p:nvSpPr>
        <p:spPr>
          <a:xfrm>
            <a:off x="3632200" y="5095329"/>
            <a:ext cx="2537714"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4213D"/>
                </a:solidFill>
                <a:latin typeface="Source Serif 4" pitchFamily="18" charset="0"/>
                <a:ea typeface="Source Serif 4" pitchFamily="18" charset="-122"/>
                <a:cs typeface="Source Serif 4" pitchFamily="18" charset="-120"/>
              </a:rPr>
              <a:t>705</a:t>
            </a:r>
            <a:endParaRPr lang="en-US" sz="2800" dirty="0"/>
          </a:p>
        </p:txBody>
      </p:sp>
      <p:sp>
        <p:nvSpPr>
          <p:cNvPr id="18" name="Text 16"/>
          <p:cNvSpPr/>
          <p:nvPr/>
        </p:nvSpPr>
        <p:spPr>
          <a:xfrm>
            <a:off x="3632200" y="5618559"/>
            <a:ext cx="253771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656"/>
                </a:solidFill>
                <a:latin typeface="IBM Plex Sans" pitchFamily="34" charset="0"/>
                <a:ea typeface="IBM Plex Sans" pitchFamily="34" charset="-122"/>
                <a:cs typeface="IBM Plex Sans" pitchFamily="34" charset="-120"/>
              </a:rPr>
              <a:t>IEEE-standard outage measure only</a:t>
            </a:r>
            <a:endParaRPr lang="en-US" sz="1200" dirty="0"/>
          </a:p>
        </p:txBody>
      </p:sp>
      <p:sp>
        <p:nvSpPr>
          <p:cNvPr id="19" name="Shape 17"/>
          <p:cNvSpPr/>
          <p:nvPr/>
        </p:nvSpPr>
        <p:spPr>
          <a:xfrm>
            <a:off x="6108700" y="5095329"/>
            <a:ext cx="0" cy="949871"/>
          </a:xfrm>
          <a:prstGeom prst="line">
            <a:avLst/>
          </a:prstGeom>
          <a:noFill/>
          <a:ln w="25400">
            <a:solidFill>
              <a:srgbClr val="B9BCC2"/>
            </a:solidFill>
            <a:prstDash val="solid"/>
          </a:ln>
        </p:spPr>
        <p:txBody>
          <a:bodyPr/>
          <a:lstStyle/>
          <a:p>
            <a:endParaRPr lang="en-US"/>
          </a:p>
        </p:txBody>
      </p:sp>
      <p:sp>
        <p:nvSpPr>
          <p:cNvPr id="20" name="Text 18"/>
          <p:cNvSpPr/>
          <p:nvPr/>
        </p:nvSpPr>
        <p:spPr>
          <a:xfrm>
            <a:off x="6273800" y="5095329"/>
            <a:ext cx="2537714"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4213D"/>
                </a:solidFill>
                <a:latin typeface="Source Serif 4" pitchFamily="18" charset="0"/>
                <a:ea typeface="Source Serif 4" pitchFamily="18" charset="-122"/>
                <a:cs typeface="Source Serif 4" pitchFamily="18" charset="-120"/>
              </a:rPr>
              <a:t>582</a:t>
            </a:r>
            <a:endParaRPr lang="en-US" sz="2800" dirty="0"/>
          </a:p>
        </p:txBody>
      </p:sp>
      <p:sp>
        <p:nvSpPr>
          <p:cNvPr id="21" name="Text 19"/>
          <p:cNvSpPr/>
          <p:nvPr/>
        </p:nvSpPr>
        <p:spPr>
          <a:xfrm>
            <a:off x="6273800" y="5618559"/>
            <a:ext cx="253771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656"/>
                </a:solidFill>
                <a:latin typeface="IBM Plex Sans" pitchFamily="34" charset="0"/>
                <a:ea typeface="IBM Plex Sans" pitchFamily="34" charset="-122"/>
                <a:cs typeface="IBM Plex Sans" pitchFamily="34" charset="-120"/>
              </a:rPr>
              <a:t>utilities that also file with FERC</a:t>
            </a:r>
            <a:endParaRPr lang="en-US" sz="1200" dirty="0"/>
          </a:p>
        </p:txBody>
      </p:sp>
      <p:sp>
        <p:nvSpPr>
          <p:cNvPr id="22" name="Shape 20"/>
          <p:cNvSpPr/>
          <p:nvPr/>
        </p:nvSpPr>
        <p:spPr>
          <a:xfrm>
            <a:off x="8750300" y="5095329"/>
            <a:ext cx="0" cy="949871"/>
          </a:xfrm>
          <a:prstGeom prst="line">
            <a:avLst/>
          </a:prstGeom>
          <a:noFill/>
          <a:ln w="25400">
            <a:solidFill>
              <a:srgbClr val="A65F12"/>
            </a:solidFill>
            <a:prstDash val="solid"/>
          </a:ln>
        </p:spPr>
        <p:txBody>
          <a:bodyPr/>
          <a:lstStyle/>
          <a:p>
            <a:endParaRPr lang="en-US"/>
          </a:p>
        </p:txBody>
      </p:sp>
      <p:sp>
        <p:nvSpPr>
          <p:cNvPr id="23" name="Text 21"/>
          <p:cNvSpPr/>
          <p:nvPr/>
        </p:nvSpPr>
        <p:spPr>
          <a:xfrm>
            <a:off x="8915400" y="5095329"/>
            <a:ext cx="2537714"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A65F12"/>
                </a:solidFill>
                <a:latin typeface="Source Serif 4" pitchFamily="18" charset="0"/>
                <a:ea typeface="Source Serif 4" pitchFamily="18" charset="-122"/>
                <a:cs typeface="Source Serif 4" pitchFamily="18" charset="-120"/>
              </a:rPr>
              <a:t>577</a:t>
            </a:r>
            <a:endParaRPr lang="en-US" sz="2800" dirty="0"/>
          </a:p>
        </p:txBody>
      </p:sp>
      <p:sp>
        <p:nvSpPr>
          <p:cNvPr id="24" name="Text 22"/>
          <p:cNvSpPr/>
          <p:nvPr/>
        </p:nvSpPr>
        <p:spPr>
          <a:xfrm>
            <a:off x="8915400" y="5618559"/>
            <a:ext cx="253771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656"/>
                </a:solidFill>
                <a:latin typeface="IBM Plex Sans" pitchFamily="34" charset="0"/>
                <a:ea typeface="IBM Plex Sans" pitchFamily="34" charset="-122"/>
                <a:cs typeface="IBM Plex Sans" pitchFamily="34" charset="-120"/>
              </a:rPr>
              <a:t>final rows, 89 utilities, after removing tiny service areas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65F12"/>
                </a:solidFill>
                <a:latin typeface="IBM Plex Sans" pitchFamily="34" charset="0"/>
                <a:ea typeface="IBM Plex Sans" pitchFamily="34" charset="-122"/>
                <a:cs typeface="IBM Plex Sans" pitchFamily="34" charset="-120"/>
              </a:rPr>
              <a:t>VARIABLES</a:t>
            </a:r>
            <a:endParaRPr lang="en-US" sz="1200" dirty="0"/>
          </a:p>
        </p:txBody>
      </p:sp>
      <p:sp>
        <p:nvSpPr>
          <p:cNvPr id="3" name="Text 1"/>
          <p:cNvSpPr>
            <a:spLocks noGrp="1"/>
          </p:cNvSpPr>
          <p:nvPr>
            <p:ph type="title"/>
          </p:nvPr>
        </p:nvSpPr>
        <p:spPr>
          <a:xfrm>
            <a:off x="812800" y="11785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One outcome, four things a utility can change</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98911"/>
          <a:ext cx="10553700" cy="2813846"/>
        </p:xfrm>
        <a:graphic>
          <a:graphicData uri="http://schemas.openxmlformats.org/drawingml/2006/table">
            <a:tbl>
              <a:tblPr/>
              <a:tblGrid>
                <a:gridCol w="2532888">
                  <a:extLst>
                    <a:ext uri="{9D8B030D-6E8A-4147-A177-3AD203B41FA5}">
                      <a16:colId xmlns:a16="http://schemas.microsoft.com/office/drawing/2014/main" val="20000"/>
                    </a:ext>
                  </a:extLst>
                </a:gridCol>
                <a:gridCol w="5487924">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tblGrid>
              <a:tr h="386011">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Variable</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What it measures</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Source</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extLst>
                  <a:ext uri="{0D108BD9-81ED-4DB2-BD59-A6C34878D82A}">
                    <a16:rowId xmlns:a16="http://schemas.microsoft.com/office/drawing/2014/main" val="10000"/>
                  </a:ext>
                </a:extLst>
              </a:tr>
              <a:tr h="63490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SAIDI (outcome)</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BDBAB2"/>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BDBAB2"/>
                      </a:solidFill>
                      <a:prstDash val="solid"/>
                      <a:round/>
                      <a:headEnd type="none" w="med" len="med"/>
                      <a:tailEnd type="none" w="med" len="med"/>
                    </a:lnB>
                    <a:solidFill>
                      <a:srgbClr val="EDE9DF"/>
                    </a:solidFill>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Outage minutes per customer per year, major event days excluded</a:t>
                      </a:r>
                      <a:endParaRPr lang="en-US" sz="1400" dirty="0">
                        <a:latin typeface="IBM Plex Sans" charset="0"/>
                        <a:ea typeface="IBM Plex Sans" charset="0"/>
                        <a:cs typeface="IBM Plex Sans" charset="0"/>
                      </a:endParaRPr>
                    </a:p>
                  </a:txBody>
                  <a:tcPr marL="62230" marR="62230" marT="62230" marB="62230">
                    <a:lnL w="12700" cap="flat" cmpd="sng" algn="ctr">
                      <a:solidFill>
                        <a:srgbClr val="BDBAB2"/>
                      </a:solidFill>
                      <a:prstDash val="solid"/>
                      <a:round/>
                      <a:headEnd type="none" w="med" len="med"/>
                      <a:tailEnd type="none" w="med" len="med"/>
                    </a:lnL>
                    <a:lnR w="12700" cap="flat" cmpd="sng" algn="ctr">
                      <a:solidFill>
                        <a:srgbClr val="BDBAB2"/>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BDBAB2"/>
                      </a:solidFill>
                      <a:prstDash val="solid"/>
                      <a:round/>
                      <a:headEnd type="none" w="med" len="med"/>
                      <a:tailEnd type="none" w="med" len="med"/>
                    </a:lnB>
                    <a:solidFill>
                      <a:srgbClr val="EDE9DF"/>
                    </a:solidFill>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EIA reliability</a:t>
                      </a:r>
                      <a:endParaRPr lang="en-US" sz="1400" dirty="0">
                        <a:latin typeface="IBM Plex Sans" charset="0"/>
                        <a:ea typeface="IBM Plex Sans" charset="0"/>
                        <a:cs typeface="IBM Plex Sans" charset="0"/>
                      </a:endParaRPr>
                    </a:p>
                  </a:txBody>
                  <a:tcPr marL="62230" marR="62230" marT="62230" marB="62230">
                    <a:lnL w="12700" cap="flat" cmpd="sng" algn="ctr">
                      <a:solidFill>
                        <a:srgbClr val="BDBAB2"/>
                      </a:solidFill>
                      <a:prstDash val="solid"/>
                      <a:round/>
                      <a:headEnd type="none" w="med" len="med"/>
                      <a:tailEnd type="none" w="med" len="med"/>
                    </a:lnL>
                    <a:lnR w="12700" cap="flat" cmpd="sng" algn="ctr">
                      <a:solidFill>
                        <a:srgbClr val="BDBAB2"/>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BDBAB2"/>
                      </a:solidFill>
                      <a:prstDash val="solid"/>
                      <a:round/>
                      <a:headEnd type="none" w="med" len="med"/>
                      <a:tailEnd type="none" w="med" len="med"/>
                    </a:lnB>
                    <a:solidFill>
                      <a:srgbClr val="EDE9DF"/>
                    </a:solidFill>
                  </a:tcPr>
                </a:tc>
                <a:extLst>
                  <a:ext uri="{0D108BD9-81ED-4DB2-BD59-A6C34878D82A}">
                    <a16:rowId xmlns:a16="http://schemas.microsoft.com/office/drawing/2014/main" val="10001"/>
                  </a:ext>
                </a:extLst>
              </a:tr>
              <a:tr h="38601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Underground share</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DBAB2"/>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Underground line dollars ÷ all line dollars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DBAB2"/>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FERC plant</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DBAB2"/>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2"/>
                  </a:ext>
                </a:extLst>
              </a:tr>
              <a:tr h="63490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Maintenance per customer</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Overhead + underground line maintenance $ ÷ company customers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FERC expenses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3"/>
                  </a:ext>
                </a:extLst>
              </a:tr>
              <a:tr h="38601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Smart meter share</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Smart (AMI) meters ÷ all meters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EIA meters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4"/>
                  </a:ext>
                </a:extLst>
              </a:tr>
              <a:tr h="38601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Customers per circuit</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Customers ÷ distribution circuits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EIA circuits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65F12"/>
                </a:solidFill>
                <a:latin typeface="IBM Plex Sans" pitchFamily="34" charset="0"/>
                <a:ea typeface="IBM Plex Sans" pitchFamily="34" charset="-122"/>
                <a:cs typeface="IBM Plex Sans" pitchFamily="34" charset="-120"/>
              </a:rPr>
              <a:t>METHOD</a:t>
            </a:r>
            <a:endParaRPr lang="en-US" sz="1200" dirty="0"/>
          </a:p>
        </p:txBody>
      </p:sp>
      <p:sp>
        <p:nvSpPr>
          <p:cNvPr id="3" name="Text 1"/>
          <p:cNvSpPr>
            <a:spLocks noGrp="1"/>
          </p:cNvSpPr>
          <p:nvPr>
            <p:ph type="title"/>
          </p:nvPr>
        </p:nvSpPr>
        <p:spPr>
          <a:xfrm>
            <a:off x="812800" y="11785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Clean, merge, then regress</a:t>
            </a:r>
            <a:endParaRPr lang="en-US" sz="3600" dirty="0"/>
          </a:p>
        </p:txBody>
      </p:sp>
      <p:sp>
        <p:nvSpPr>
          <p:cNvPr id="4" name="Shape 2"/>
          <p:cNvSpPr/>
          <p:nvPr/>
        </p:nvSpPr>
        <p:spPr>
          <a:xfrm>
            <a:off x="812800" y="1998911"/>
            <a:ext cx="2489200" cy="0"/>
          </a:xfrm>
          <a:prstGeom prst="line">
            <a:avLst/>
          </a:prstGeom>
          <a:noFill/>
          <a:ln w="25400">
            <a:solidFill>
              <a:srgbClr val="14213D"/>
            </a:solidFill>
            <a:prstDash val="solid"/>
          </a:ln>
        </p:spPr>
        <p:txBody>
          <a:bodyPr/>
          <a:lstStyle/>
          <a:p>
            <a:endParaRPr lang="en-US"/>
          </a:p>
        </p:txBody>
      </p:sp>
      <p:sp>
        <p:nvSpPr>
          <p:cNvPr id="5" name="Text 3"/>
          <p:cNvSpPr/>
          <p:nvPr/>
        </p:nvSpPr>
        <p:spPr>
          <a:xfrm>
            <a:off x="812800" y="2214811"/>
            <a:ext cx="256387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A65F12"/>
                </a:solidFill>
                <a:latin typeface="Source Serif 4" pitchFamily="18" charset="0"/>
                <a:ea typeface="Source Serif 4" pitchFamily="18" charset="-122"/>
                <a:cs typeface="Source Serif 4" pitchFamily="18" charset="-120"/>
              </a:rPr>
              <a:t>1</a:t>
            </a:r>
            <a:endParaRPr lang="en-US" sz="2800" dirty="0"/>
          </a:p>
        </p:txBody>
      </p:sp>
      <p:sp>
        <p:nvSpPr>
          <p:cNvPr id="6" name="Text 4"/>
          <p:cNvSpPr/>
          <p:nvPr/>
        </p:nvSpPr>
        <p:spPr>
          <a:xfrm>
            <a:off x="812800" y="2814241"/>
            <a:ext cx="256387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Build</a:t>
            </a:r>
            <a:endParaRPr lang="en-US" sz="1800" dirty="0"/>
          </a:p>
        </p:txBody>
      </p:sp>
      <p:sp>
        <p:nvSpPr>
          <p:cNvPr id="7" name="Text 5"/>
          <p:cNvSpPr/>
          <p:nvPr/>
        </p:nvSpPr>
        <p:spPr>
          <a:xfrm>
            <a:off x="812800" y="3190131"/>
            <a:ext cx="2563876"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D4656"/>
                </a:solidFill>
                <a:latin typeface="IBM Plex Sans" pitchFamily="34" charset="0"/>
                <a:ea typeface="IBM Plex Sans" pitchFamily="34" charset="-122"/>
                <a:cs typeface="IBM Plex Sans" pitchFamily="34" charset="-120"/>
              </a:rPr>
              <a:t>pandas: filter, group, pivot and merge 6 files into one table of ratios</a:t>
            </a:r>
            <a:endParaRPr lang="en-US" sz="1400" dirty="0"/>
          </a:p>
        </p:txBody>
      </p:sp>
      <p:sp>
        <p:nvSpPr>
          <p:cNvPr id="8" name="Shape 6"/>
          <p:cNvSpPr/>
          <p:nvPr/>
        </p:nvSpPr>
        <p:spPr>
          <a:xfrm>
            <a:off x="3505200" y="1998911"/>
            <a:ext cx="2489200" cy="0"/>
          </a:xfrm>
          <a:prstGeom prst="line">
            <a:avLst/>
          </a:prstGeom>
          <a:noFill/>
          <a:ln w="25400">
            <a:solidFill>
              <a:srgbClr val="14213D"/>
            </a:solidFill>
            <a:prstDash val="solid"/>
          </a:ln>
        </p:spPr>
        <p:txBody>
          <a:bodyPr/>
          <a:lstStyle/>
          <a:p>
            <a:endParaRPr lang="en-US"/>
          </a:p>
        </p:txBody>
      </p:sp>
      <p:sp>
        <p:nvSpPr>
          <p:cNvPr id="9" name="Text 7"/>
          <p:cNvSpPr/>
          <p:nvPr/>
        </p:nvSpPr>
        <p:spPr>
          <a:xfrm>
            <a:off x="3505200" y="2214811"/>
            <a:ext cx="256387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A65F12"/>
                </a:solidFill>
                <a:latin typeface="Source Serif 4" pitchFamily="18" charset="0"/>
                <a:ea typeface="Source Serif 4" pitchFamily="18" charset="-122"/>
                <a:cs typeface="Source Serif 4" pitchFamily="18" charset="-120"/>
              </a:rPr>
              <a:t>2</a:t>
            </a:r>
            <a:endParaRPr lang="en-US" sz="2800" dirty="0"/>
          </a:p>
        </p:txBody>
      </p:sp>
      <p:sp>
        <p:nvSpPr>
          <p:cNvPr id="10" name="Text 8"/>
          <p:cNvSpPr/>
          <p:nvPr/>
        </p:nvSpPr>
        <p:spPr>
          <a:xfrm>
            <a:off x="3505200" y="2814241"/>
            <a:ext cx="256387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Model</a:t>
            </a:r>
            <a:endParaRPr lang="en-US" sz="1800" dirty="0"/>
          </a:p>
        </p:txBody>
      </p:sp>
      <p:sp>
        <p:nvSpPr>
          <p:cNvPr id="11" name="Text 9"/>
          <p:cNvSpPr/>
          <p:nvPr/>
        </p:nvSpPr>
        <p:spPr>
          <a:xfrm>
            <a:off x="3505200" y="3190131"/>
            <a:ext cx="2563876"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D4656"/>
                </a:solidFill>
                <a:latin typeface="IBM Plex Sans" pitchFamily="34" charset="0"/>
                <a:ea typeface="IBM Plex Sans" pitchFamily="34" charset="-122"/>
                <a:cs typeface="IBM Plex Sans" pitchFamily="34" charset="-120"/>
              </a:rPr>
              <a:t>statsmodels OLS: underground share alone, then all four variables</a:t>
            </a:r>
            <a:endParaRPr lang="en-US" sz="1400" dirty="0"/>
          </a:p>
        </p:txBody>
      </p:sp>
      <p:sp>
        <p:nvSpPr>
          <p:cNvPr id="12" name="Shape 10"/>
          <p:cNvSpPr/>
          <p:nvPr/>
        </p:nvSpPr>
        <p:spPr>
          <a:xfrm>
            <a:off x="6197600" y="1998911"/>
            <a:ext cx="2489200" cy="0"/>
          </a:xfrm>
          <a:prstGeom prst="line">
            <a:avLst/>
          </a:prstGeom>
          <a:noFill/>
          <a:ln w="25400">
            <a:solidFill>
              <a:srgbClr val="14213D"/>
            </a:solidFill>
            <a:prstDash val="solid"/>
          </a:ln>
        </p:spPr>
        <p:txBody>
          <a:bodyPr/>
          <a:lstStyle/>
          <a:p>
            <a:endParaRPr lang="en-US"/>
          </a:p>
        </p:txBody>
      </p:sp>
      <p:sp>
        <p:nvSpPr>
          <p:cNvPr id="13" name="Text 11"/>
          <p:cNvSpPr/>
          <p:nvPr/>
        </p:nvSpPr>
        <p:spPr>
          <a:xfrm>
            <a:off x="6197600" y="2214811"/>
            <a:ext cx="256387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A65F12"/>
                </a:solidFill>
                <a:latin typeface="Source Serif 4" pitchFamily="18" charset="0"/>
                <a:ea typeface="Source Serif 4" pitchFamily="18" charset="-122"/>
                <a:cs typeface="Source Serif 4" pitchFamily="18" charset="-120"/>
              </a:rPr>
              <a:t>3</a:t>
            </a:r>
            <a:endParaRPr lang="en-US" sz="2800" dirty="0"/>
          </a:p>
        </p:txBody>
      </p:sp>
      <p:sp>
        <p:nvSpPr>
          <p:cNvPr id="15" name="Text 13"/>
          <p:cNvSpPr/>
          <p:nvPr/>
        </p:nvSpPr>
        <p:spPr>
          <a:xfrm>
            <a:off x="6197600" y="3190131"/>
            <a:ext cx="2563876" cy="1020961"/>
          </a:xfrm>
          <a:prstGeom prst="rect">
            <a:avLst/>
          </a:prstGeom>
          <a:noFill/>
          <a:ln/>
        </p:spPr>
        <p:txBody>
          <a:bodyPr wrap="square" lIns="0" tIns="0" rIns="0" bIns="0" rtlCol="0" anchor="t">
            <a:normAutofit/>
          </a:bodyPr>
          <a:lstStyle/>
          <a:p>
            <a:pPr marL="0" indent="0" algn="l">
              <a:lnSpc>
                <a:spcPts val="1960"/>
              </a:lnSpc>
              <a:buNone/>
            </a:pPr>
            <a:endParaRPr lang="en-US" sz="1400" dirty="0"/>
          </a:p>
        </p:txBody>
      </p:sp>
      <p:sp>
        <p:nvSpPr>
          <p:cNvPr id="18" name="Text 16"/>
          <p:cNvSpPr/>
          <p:nvPr/>
        </p:nvSpPr>
        <p:spPr>
          <a:xfrm>
            <a:off x="6254496" y="2814241"/>
            <a:ext cx="256387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Stress-test</a:t>
            </a:r>
            <a:endParaRPr lang="en-US" sz="1800" dirty="0"/>
          </a:p>
        </p:txBody>
      </p:sp>
      <p:sp>
        <p:nvSpPr>
          <p:cNvPr id="19" name="Text 17"/>
          <p:cNvSpPr/>
          <p:nvPr/>
        </p:nvSpPr>
        <p:spPr>
          <a:xfrm>
            <a:off x="6254496" y="3179985"/>
            <a:ext cx="2563876"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D4656"/>
                </a:solidFill>
                <a:latin typeface="IBM Plex Sans" pitchFamily="34" charset="0"/>
                <a:ea typeface="IBM Plex Sans" pitchFamily="34" charset="-122"/>
                <a:cs typeface="IBM Plex Sans" pitchFamily="34" charset="-120"/>
              </a:rPr>
              <a:t>Rerun with major event days included, then predict gains for the worst performers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4213D"/>
                </a:solidFill>
                <a:latin typeface="Source Serif 4" pitchFamily="18" charset="0"/>
                <a:ea typeface="Source Serif 4" pitchFamily="18" charset="-122"/>
                <a:cs typeface="Source Serif 4" pitchFamily="18" charset="-120"/>
              </a:rPr>
              <a:t>More underground lines, fewer outage minutes</a:t>
            </a:r>
            <a:endParaRPr lang="en-US" sz="3200" dirty="0"/>
          </a:p>
        </p:txBody>
      </p:sp>
      <p:pic>
        <p:nvPicPr>
          <p:cNvPr id="3" name="Image 0" descr="Scatter plot of outage minutes against underground share for 577 utility-state-years, with a downward-sloping fitted line"/>
          <p:cNvPicPr>
            <a:picLocks noChangeAspect="1"/>
          </p:cNvPicPr>
          <p:nvPr/>
        </p:nvPicPr>
        <p:blipFill>
          <a:blip r:embed="rId3"/>
          <a:srcRect t="-40" b="-40"/>
          <a:stretch/>
        </p:blipFill>
        <p:spPr>
          <a:xfrm>
            <a:off x="812800" y="1463030"/>
            <a:ext cx="6413500" cy="4318000"/>
          </a:xfrm>
          <a:prstGeom prst="rect">
            <a:avLst/>
          </a:prstGeom>
        </p:spPr>
      </p:pic>
      <p:sp>
        <p:nvSpPr>
          <p:cNvPr id="4" name="Text 1"/>
          <p:cNvSpPr/>
          <p:nvPr/>
        </p:nvSpPr>
        <p:spPr>
          <a:xfrm>
            <a:off x="7581900" y="2420045"/>
            <a:ext cx="3911219"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A65F12"/>
                </a:solidFill>
                <a:latin typeface="Source Serif 4" pitchFamily="18" charset="0"/>
                <a:ea typeface="Source Serif 4" pitchFamily="18" charset="-122"/>
                <a:cs typeface="Source Serif 4" pitchFamily="18" charset="-120"/>
              </a:rPr>
              <a:t>−29 min</a:t>
            </a:r>
            <a:endParaRPr lang="en-US" sz="4800" dirty="0"/>
          </a:p>
        </p:txBody>
      </p:sp>
      <p:sp>
        <p:nvSpPr>
          <p:cNvPr id="5" name="Text 2"/>
          <p:cNvSpPr/>
          <p:nvPr/>
        </p:nvSpPr>
        <p:spPr>
          <a:xfrm>
            <a:off x="7581900" y="3080445"/>
            <a:ext cx="3911219"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D4656"/>
                </a:solidFill>
                <a:latin typeface="IBM Plex Sans" pitchFamily="34" charset="0"/>
                <a:ea typeface="IBM Plex Sans" pitchFamily="34" charset="-122"/>
                <a:cs typeface="IBM Plex Sans" pitchFamily="34" charset="-120"/>
              </a:rPr>
              <a:t>per customer per year for each +10 percentage points underground</a:t>
            </a:r>
            <a:endParaRPr lang="en-US" sz="1400" dirty="0"/>
          </a:p>
        </p:txBody>
      </p:sp>
      <p:sp>
        <p:nvSpPr>
          <p:cNvPr id="6" name="Shape 3"/>
          <p:cNvSpPr/>
          <p:nvPr/>
        </p:nvSpPr>
        <p:spPr>
          <a:xfrm>
            <a:off x="7581900" y="3835400"/>
            <a:ext cx="3797300" cy="0"/>
          </a:xfrm>
          <a:prstGeom prst="line">
            <a:avLst/>
          </a:prstGeom>
          <a:noFill/>
          <a:ln w="6350">
            <a:solidFill>
              <a:srgbClr val="DCD8CC"/>
            </a:solidFill>
            <a:prstDash val="solid"/>
          </a:ln>
        </p:spPr>
        <p:txBody>
          <a:bodyPr/>
          <a:lstStyle/>
          <a:p>
            <a:endParaRPr lang="en-US"/>
          </a:p>
        </p:txBody>
      </p:sp>
      <p:sp>
        <p:nvSpPr>
          <p:cNvPr id="7" name="Text 4"/>
          <p:cNvSpPr/>
          <p:nvPr/>
        </p:nvSpPr>
        <p:spPr>
          <a:xfrm>
            <a:off x="7581900" y="3990975"/>
            <a:ext cx="3911219"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R² = 0.17 · p &lt; 0.001</a:t>
            </a:r>
            <a:endParaRPr lang="en-US" sz="1600" dirty="0"/>
          </a:p>
        </p:txBody>
      </p:sp>
      <p:sp>
        <p:nvSpPr>
          <p:cNvPr id="8" name="Text 5"/>
          <p:cNvSpPr/>
          <p:nvPr/>
        </p:nvSpPr>
        <p:spPr>
          <a:xfrm>
            <a:off x="7581900" y="4326235"/>
            <a:ext cx="3911219"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D4656"/>
                </a:solidFill>
                <a:latin typeface="IBM Plex Sans" pitchFamily="34" charset="0"/>
                <a:ea typeface="IBM Plex Sans" pitchFamily="34" charset="-122"/>
                <a:cs typeface="IBM Plex Sans" pitchFamily="34" charset="-120"/>
              </a:rPr>
              <a:t>Underground share alone explains 17% of the differences</a:t>
            </a:r>
            <a:endParaRPr lang="en-US" sz="14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4"/>
                </a:solidFill>
                <a:latin typeface="IBM Plex Sans" pitchFamily="34" charset="0"/>
                <a:ea typeface="IBM Plex Sans" pitchFamily="34" charset="-122"/>
                <a:cs typeface="IBM Plex Sans" pitchFamily="34" charset="-120"/>
              </a:rPr>
              <a:t>577 utility-state-years, 2021–2025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65F12"/>
                </a:solidFill>
                <a:latin typeface="IBM Plex Sans" pitchFamily="34" charset="0"/>
                <a:ea typeface="IBM Plex Sans" pitchFamily="34" charset="-122"/>
                <a:cs typeface="IBM Plex Sans" pitchFamily="34" charset="-120"/>
              </a:rPr>
              <a:t>ALL FOUR VARIABLES TOGETHER</a:t>
            </a:r>
            <a:endParaRPr lang="en-US" sz="1200" dirty="0"/>
          </a:p>
        </p:txBody>
      </p:sp>
      <p:sp>
        <p:nvSpPr>
          <p:cNvPr id="3" name="Text 1"/>
          <p:cNvSpPr>
            <a:spLocks noGrp="1"/>
          </p:cNvSpPr>
          <p:nvPr>
            <p:ph type="title"/>
          </p:nvPr>
        </p:nvSpPr>
        <p:spPr>
          <a:xfrm>
            <a:off x="812800" y="1178520"/>
            <a:ext cx="10883392"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Underground share holds up; smart meters and circuits do not</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4242056372"/>
              </p:ext>
            </p:extLst>
          </p:nvPr>
        </p:nvGraphicFramePr>
        <p:xfrm>
          <a:off x="825500" y="2501801"/>
          <a:ext cx="10553700" cy="1930055"/>
        </p:xfrm>
        <a:graphic>
          <a:graphicData uri="http://schemas.openxmlformats.org/drawingml/2006/table">
            <a:tbl>
              <a:tblPr/>
              <a:tblGrid>
                <a:gridCol w="3377184">
                  <a:extLst>
                    <a:ext uri="{9D8B030D-6E8A-4147-A177-3AD203B41FA5}">
                      <a16:colId xmlns:a16="http://schemas.microsoft.com/office/drawing/2014/main" val="20000"/>
                    </a:ext>
                  </a:extLst>
                </a:gridCol>
                <a:gridCol w="3588258">
                  <a:extLst>
                    <a:ext uri="{9D8B030D-6E8A-4147-A177-3AD203B41FA5}">
                      <a16:colId xmlns:a16="http://schemas.microsoft.com/office/drawing/2014/main" val="20001"/>
                    </a:ext>
                  </a:extLst>
                </a:gridCol>
                <a:gridCol w="1477518">
                  <a:extLst>
                    <a:ext uri="{9D8B030D-6E8A-4147-A177-3AD203B41FA5}">
                      <a16:colId xmlns:a16="http://schemas.microsoft.com/office/drawing/2014/main" val="20002"/>
                    </a:ext>
                  </a:extLst>
                </a:gridCol>
                <a:gridCol w="2110740">
                  <a:extLst>
                    <a:ext uri="{9D8B030D-6E8A-4147-A177-3AD203B41FA5}">
                      <a16:colId xmlns:a16="http://schemas.microsoft.com/office/drawing/2014/main" val="20003"/>
                    </a:ext>
                  </a:extLst>
                </a:gridCol>
              </a:tblGrid>
              <a:tr h="386011">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Variable</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Effect on outage minutes</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gn="r">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p-value</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Significant</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extLst>
                  <a:ext uri="{0D108BD9-81ED-4DB2-BD59-A6C34878D82A}">
                    <a16:rowId xmlns:a16="http://schemas.microsoft.com/office/drawing/2014/main" val="10000"/>
                  </a:ext>
                </a:extLst>
              </a:tr>
              <a:tr h="38601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Underground share</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BDBAB2"/>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BDBAB2"/>
                      </a:solidFill>
                      <a:prstDash val="solid"/>
                      <a:round/>
                      <a:headEnd type="none" w="med" len="med"/>
                      <a:tailEnd type="none" w="med" len="med"/>
                    </a:lnB>
                    <a:solidFill>
                      <a:srgbClr val="EDE9DF"/>
                    </a:solidFill>
                  </a:tcPr>
                </a:tc>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−22 min </a:t>
                      </a:r>
                      <a:r>
                        <a:rPr lang="en-US" sz="1400" b="0" dirty="0">
                          <a:solidFill>
                            <a:srgbClr val="14213D"/>
                          </a:solidFill>
                          <a:latin typeface="IBM Plex Sans" pitchFamily="34" charset="0"/>
                          <a:ea typeface="IBM Plex Sans" pitchFamily="34" charset="-122"/>
                          <a:cs typeface="IBM Plex Sans" pitchFamily="34" charset="-120"/>
                        </a:rPr>
                        <a:t>per</a:t>
                      </a:r>
                      <a:r>
                        <a:rPr lang="en-US" sz="1400" b="1" dirty="0">
                          <a:solidFill>
                            <a:srgbClr val="14213D"/>
                          </a:solidFill>
                          <a:latin typeface="IBM Plex Sans" pitchFamily="34" charset="0"/>
                          <a:ea typeface="IBM Plex Sans" pitchFamily="34" charset="-122"/>
                          <a:cs typeface="IBM Plex Sans" pitchFamily="34" charset="-120"/>
                        </a:rPr>
                        <a:t> </a:t>
                      </a:r>
                      <a:r>
                        <a:rPr lang="en-US" sz="1400" dirty="0">
                          <a:solidFill>
                            <a:srgbClr val="14213D"/>
                          </a:solidFill>
                          <a:latin typeface="IBM Plex Sans" pitchFamily="34" charset="0"/>
                          <a:ea typeface="IBM Plex Sans" pitchFamily="34" charset="-122"/>
                          <a:cs typeface="IBM Plex Sans" pitchFamily="34" charset="-120"/>
                        </a:rPr>
                        <a:t>10% increase</a:t>
                      </a:r>
                      <a:endParaRPr lang="en-US" sz="1400" dirty="0">
                        <a:latin typeface="IBM Plex Sans" charset="0"/>
                        <a:ea typeface="IBM Plex Sans" charset="0"/>
                        <a:cs typeface="IBM Plex Sans" charset="0"/>
                      </a:endParaRPr>
                    </a:p>
                  </a:txBody>
                  <a:tcPr marL="62230" marR="62230" marT="62230" marB="62230">
                    <a:lnL w="12700" cap="flat" cmpd="sng" algn="ctr">
                      <a:solidFill>
                        <a:srgbClr val="BDBAB2"/>
                      </a:solidFill>
                      <a:prstDash val="solid"/>
                      <a:round/>
                      <a:headEnd type="none" w="med" len="med"/>
                      <a:tailEnd type="none" w="med" len="med"/>
                    </a:lnL>
                    <a:lnR w="12700" cap="flat" cmpd="sng" algn="ctr">
                      <a:solidFill>
                        <a:srgbClr val="BDBAB2"/>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BDBAB2"/>
                      </a:solidFill>
                      <a:prstDash val="solid"/>
                      <a:round/>
                      <a:headEnd type="none" w="med" len="med"/>
                      <a:tailEnd type="none" w="med" len="med"/>
                    </a:lnB>
                    <a:solidFill>
                      <a:srgbClr val="EDE9DF"/>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0.001</a:t>
                      </a:r>
                      <a:endParaRPr lang="en-US" sz="1400" dirty="0">
                        <a:latin typeface="IBM Plex Sans" charset="0"/>
                        <a:ea typeface="IBM Plex Sans" charset="0"/>
                        <a:cs typeface="IBM Plex Sans" charset="0"/>
                      </a:endParaRPr>
                    </a:p>
                  </a:txBody>
                  <a:tcPr marL="62230" marR="62230" marT="62230" marB="62230">
                    <a:lnL w="12700" cap="flat" cmpd="sng" algn="ctr">
                      <a:solidFill>
                        <a:srgbClr val="BDBAB2"/>
                      </a:solidFill>
                      <a:prstDash val="solid"/>
                      <a:round/>
                      <a:headEnd type="none" w="med" len="med"/>
                      <a:tailEnd type="none" w="med" len="med"/>
                    </a:lnL>
                    <a:lnR w="12700" cap="flat" cmpd="sng" algn="ctr">
                      <a:solidFill>
                        <a:srgbClr val="BDBAB2"/>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BDBAB2"/>
                      </a:solidFill>
                      <a:prstDash val="solid"/>
                      <a:round/>
                      <a:headEnd type="none" w="med" len="med"/>
                      <a:tailEnd type="none" w="med" len="med"/>
                    </a:lnB>
                    <a:solidFill>
                      <a:srgbClr val="EDE9DF"/>
                    </a:solidFill>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Yes</a:t>
                      </a:r>
                      <a:endParaRPr lang="en-US" sz="1400" dirty="0">
                        <a:latin typeface="IBM Plex Sans" charset="0"/>
                        <a:ea typeface="IBM Plex Sans" charset="0"/>
                        <a:cs typeface="IBM Plex Sans" charset="0"/>
                      </a:endParaRPr>
                    </a:p>
                  </a:txBody>
                  <a:tcPr marL="62230" marR="62230" marT="62230" marB="62230">
                    <a:lnL w="12700" cap="flat" cmpd="sng" algn="ctr">
                      <a:solidFill>
                        <a:srgbClr val="BDBAB2"/>
                      </a:solidFill>
                      <a:prstDash val="solid"/>
                      <a:round/>
                      <a:headEnd type="none" w="med" len="med"/>
                      <a:tailEnd type="none" w="med" len="med"/>
                    </a:lnL>
                    <a:lnR w="12700" cap="flat" cmpd="sng" algn="ctr">
                      <a:solidFill>
                        <a:srgbClr val="BDBAB2"/>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BDBAB2"/>
                      </a:solidFill>
                      <a:prstDash val="solid"/>
                      <a:round/>
                      <a:headEnd type="none" w="med" len="med"/>
                      <a:tailEnd type="none" w="med" len="med"/>
                    </a:lnB>
                    <a:solidFill>
                      <a:srgbClr val="EDE9DF"/>
                    </a:solidFill>
                  </a:tcPr>
                </a:tc>
                <a:extLst>
                  <a:ext uri="{0D108BD9-81ED-4DB2-BD59-A6C34878D82A}">
                    <a16:rowId xmlns:a16="http://schemas.microsoft.com/office/drawing/2014/main" val="10001"/>
                  </a:ext>
                </a:extLst>
              </a:tr>
              <a:tr h="38601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Maintenance per customer</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DBAB2"/>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+6.5 min </a:t>
                      </a:r>
                      <a:r>
                        <a:rPr lang="en-US" sz="1400" b="0" dirty="0">
                          <a:solidFill>
                            <a:srgbClr val="14213D"/>
                          </a:solidFill>
                          <a:latin typeface="IBM Plex Sans" pitchFamily="34" charset="0"/>
                          <a:ea typeface="IBM Plex Sans" pitchFamily="34" charset="-122"/>
                          <a:cs typeface="IBM Plex Sans" pitchFamily="34" charset="-120"/>
                        </a:rPr>
                        <a:t>per</a:t>
                      </a:r>
                      <a:r>
                        <a:rPr lang="en-US" sz="1400" b="1" dirty="0">
                          <a:solidFill>
                            <a:srgbClr val="14213D"/>
                          </a:solidFill>
                          <a:latin typeface="IBM Plex Sans" pitchFamily="34" charset="0"/>
                          <a:ea typeface="IBM Plex Sans" pitchFamily="34" charset="-122"/>
                          <a:cs typeface="IBM Plex Sans" pitchFamily="34" charset="-120"/>
                        </a:rPr>
                        <a:t> </a:t>
                      </a:r>
                      <a:r>
                        <a:rPr lang="en-US" sz="1400" dirty="0">
                          <a:solidFill>
                            <a:srgbClr val="14213D"/>
                          </a:solidFill>
                          <a:latin typeface="IBM Plex Sans" pitchFamily="34" charset="0"/>
                          <a:ea typeface="IBM Plex Sans" pitchFamily="34" charset="-122"/>
                          <a:cs typeface="IBM Plex Sans" pitchFamily="34" charset="-120"/>
                        </a:rPr>
                        <a:t>$10 spent</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DBAB2"/>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0.03</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DBAB2"/>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Yes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DBAB2"/>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2"/>
                  </a:ext>
                </a:extLst>
              </a:tr>
              <a:tr h="38601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Smart meter share</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−0.4 per +10 points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0.82</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No</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3"/>
                  </a:ext>
                </a:extLst>
              </a:tr>
              <a:tr h="38601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Customers per circuit</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+0.8 per +100 customers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0.59</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No</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p:nvPr/>
        </p:nvSpPr>
        <p:spPr>
          <a:xfrm>
            <a:off x="812800" y="5231872"/>
            <a:ext cx="981075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656"/>
                </a:solidFill>
                <a:latin typeface="IBM Plex Sans" pitchFamily="34" charset="0"/>
                <a:ea typeface="IBM Plex Sans" pitchFamily="34" charset="-122"/>
                <a:cs typeface="IBM Plex Sans" pitchFamily="34" charset="-120"/>
              </a:rPr>
              <a:t>More maintenance goes with </a:t>
            </a:r>
            <a:r>
              <a:rPr lang="en-US" sz="1600" b="1" dirty="0">
                <a:solidFill>
                  <a:srgbClr val="3D4656"/>
                </a:solidFill>
                <a:latin typeface="IBM Plex Sans" pitchFamily="34" charset="0"/>
                <a:ea typeface="IBM Plex Sans" pitchFamily="34" charset="-122"/>
                <a:cs typeface="IBM Plex Sans" pitchFamily="34" charset="-120"/>
              </a:rPr>
              <a:t>more</a:t>
            </a:r>
            <a:r>
              <a:rPr lang="en-US" sz="1600" dirty="0">
                <a:solidFill>
                  <a:srgbClr val="3D4656"/>
                </a:solidFill>
                <a:latin typeface="IBM Plex Sans" pitchFamily="34" charset="0"/>
                <a:ea typeface="IBM Plex Sans" pitchFamily="34" charset="-122"/>
                <a:cs typeface="IBM Plex Sans" pitchFamily="34" charset="-120"/>
              </a:rPr>
              <a:t> outages: utilities with bad outages likely spend more on repairs.</a:t>
            </a:r>
            <a:endParaRPr lang="en-US" sz="1600" dirty="0"/>
          </a:p>
        </p:txBody>
      </p:sp>
      <p:sp>
        <p:nvSpPr>
          <p:cNvPr id="6" name="Text 3"/>
          <p:cNvSpPr/>
          <p:nvPr/>
        </p:nvSpPr>
        <p:spPr>
          <a:xfrm>
            <a:off x="812800" y="4816948"/>
            <a:ext cx="10883392" cy="238720"/>
          </a:xfrm>
          <a:prstGeom prst="rect">
            <a:avLst/>
          </a:prstGeom>
          <a:noFill/>
          <a:ln/>
        </p:spPr>
        <p:txBody>
          <a:bodyPr wrap="square" lIns="0" tIns="0" rIns="0" bIns="0" rtlCol="0" anchor="t">
            <a:noAutofit/>
          </a:bodyPr>
          <a:lstStyle/>
          <a:p>
            <a:pPr marL="0" indent="0" algn="l">
              <a:lnSpc>
                <a:spcPts val="1680"/>
              </a:lnSpc>
              <a:buNone/>
            </a:pPr>
            <a:r>
              <a:rPr lang="en-US" sz="2400" dirty="0">
                <a:solidFill>
                  <a:srgbClr val="5B6474"/>
                </a:solidFill>
                <a:latin typeface="IBM Plex Sans" pitchFamily="34" charset="0"/>
                <a:ea typeface="IBM Plex Sans" pitchFamily="34" charset="-122"/>
                <a:cs typeface="IBM Plex Sans" pitchFamily="34" charset="-120"/>
              </a:rPr>
              <a:t>Adjusted R² = 0.27</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E8A33D"/>
                </a:solidFill>
                <a:latin typeface="IBM Plex Sans" pitchFamily="34" charset="0"/>
                <a:ea typeface="IBM Plex Sans" pitchFamily="34" charset="-122"/>
                <a:cs typeface="IBM Plex Sans" pitchFamily="34" charset="-120"/>
              </a:rPr>
              <a:t>THE TWIST</a:t>
            </a:r>
            <a:endParaRPr lang="en-US" sz="1200" dirty="0"/>
          </a:p>
        </p:txBody>
      </p:sp>
      <p:sp>
        <p:nvSpPr>
          <p:cNvPr id="3" name="Text 1"/>
          <p:cNvSpPr>
            <a:spLocks noGrp="1"/>
          </p:cNvSpPr>
          <p:nvPr>
            <p:ph type="title"/>
          </p:nvPr>
        </p:nvSpPr>
        <p:spPr>
          <a:xfrm>
            <a:off x="812800" y="1178520"/>
            <a:ext cx="9810750" cy="11430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F6F4EE"/>
                </a:solidFill>
                <a:latin typeface="Source Serif 4" pitchFamily="18" charset="0"/>
                <a:ea typeface="Source Serif 4" pitchFamily="18" charset="-122"/>
                <a:cs typeface="Source Serif 4" pitchFamily="18" charset="-120"/>
              </a:rPr>
              <a:t>On disaster days, underground lines matter four times more</a:t>
            </a:r>
            <a:endParaRPr lang="en-US" sz="4000" dirty="0"/>
          </a:p>
        </p:txBody>
      </p:sp>
      <p:sp>
        <p:nvSpPr>
          <p:cNvPr id="4" name="Shape 2"/>
          <p:cNvSpPr/>
          <p:nvPr/>
        </p:nvSpPr>
        <p:spPr>
          <a:xfrm>
            <a:off x="812800" y="2880370"/>
            <a:ext cx="5080000" cy="0"/>
          </a:xfrm>
          <a:prstGeom prst="line">
            <a:avLst/>
          </a:prstGeom>
          <a:noFill/>
          <a:ln w="25400">
            <a:solidFill>
              <a:srgbClr val="5B6B8A"/>
            </a:solidFill>
            <a:prstDash val="solid"/>
          </a:ln>
        </p:spPr>
        <p:txBody>
          <a:bodyPr/>
          <a:lstStyle/>
          <a:p>
            <a:endParaRPr lang="en-US"/>
          </a:p>
        </p:txBody>
      </p:sp>
      <p:sp>
        <p:nvSpPr>
          <p:cNvPr id="5" name="Text 3"/>
          <p:cNvSpPr/>
          <p:nvPr/>
        </p:nvSpPr>
        <p:spPr>
          <a:xfrm>
            <a:off x="812800" y="3096270"/>
            <a:ext cx="5232400" cy="914400"/>
          </a:xfrm>
          <a:prstGeom prst="rect">
            <a:avLst/>
          </a:prstGeom>
          <a:noFill/>
          <a:ln/>
        </p:spPr>
        <p:txBody>
          <a:bodyPr wrap="square" lIns="0" tIns="0" rIns="0" bIns="0" rtlCol="0" anchor="t">
            <a:normAutofit/>
          </a:bodyPr>
          <a:lstStyle/>
          <a:p>
            <a:pPr marL="0" indent="0" algn="l">
              <a:lnSpc>
                <a:spcPts val="7000"/>
              </a:lnSpc>
              <a:buNone/>
            </a:pPr>
            <a:r>
              <a:rPr lang="en-US" sz="7000" b="1" dirty="0">
                <a:solidFill>
                  <a:srgbClr val="C9D3E3"/>
                </a:solidFill>
                <a:latin typeface="Source Serif 4" pitchFamily="18" charset="0"/>
                <a:ea typeface="Source Serif 4" pitchFamily="18" charset="-122"/>
                <a:cs typeface="Source Serif 4" pitchFamily="18" charset="-120"/>
              </a:rPr>
              <a:t>−22</a:t>
            </a:r>
            <a:endParaRPr lang="en-US" sz="7000" dirty="0"/>
          </a:p>
        </p:txBody>
      </p:sp>
      <p:sp>
        <p:nvSpPr>
          <p:cNvPr id="6" name="Text 4"/>
          <p:cNvSpPr/>
          <p:nvPr/>
        </p:nvSpPr>
        <p:spPr>
          <a:xfrm>
            <a:off x="812800" y="4061470"/>
            <a:ext cx="5232400"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3E3"/>
                </a:solidFill>
                <a:latin typeface="IBM Plex Sans" pitchFamily="34" charset="0"/>
                <a:ea typeface="IBM Plex Sans" pitchFamily="34" charset="-122"/>
                <a:cs typeface="IBM Plex Sans" pitchFamily="34" charset="-120"/>
              </a:rPr>
              <a:t>minutes per +10 points underground, normal days</a:t>
            </a:r>
            <a:endParaRPr lang="en-US" sz="1600" dirty="0"/>
          </a:p>
        </p:txBody>
      </p:sp>
      <p:sp>
        <p:nvSpPr>
          <p:cNvPr id="7" name="Shape 5"/>
          <p:cNvSpPr/>
          <p:nvPr/>
        </p:nvSpPr>
        <p:spPr>
          <a:xfrm>
            <a:off x="6299200" y="2880370"/>
            <a:ext cx="5080000" cy="0"/>
          </a:xfrm>
          <a:prstGeom prst="line">
            <a:avLst/>
          </a:prstGeom>
          <a:noFill/>
          <a:ln w="25400">
            <a:solidFill>
              <a:srgbClr val="E8A33D"/>
            </a:solidFill>
            <a:prstDash val="solid"/>
          </a:ln>
        </p:spPr>
        <p:txBody>
          <a:bodyPr/>
          <a:lstStyle/>
          <a:p>
            <a:endParaRPr lang="en-US"/>
          </a:p>
        </p:txBody>
      </p:sp>
      <p:sp>
        <p:nvSpPr>
          <p:cNvPr id="8" name="Text 6"/>
          <p:cNvSpPr/>
          <p:nvPr/>
        </p:nvSpPr>
        <p:spPr>
          <a:xfrm>
            <a:off x="6299200" y="3096270"/>
            <a:ext cx="5232400" cy="914400"/>
          </a:xfrm>
          <a:prstGeom prst="rect">
            <a:avLst/>
          </a:prstGeom>
          <a:noFill/>
          <a:ln/>
        </p:spPr>
        <p:txBody>
          <a:bodyPr wrap="square" lIns="0" tIns="0" rIns="0" bIns="0" rtlCol="0" anchor="t">
            <a:normAutofit/>
          </a:bodyPr>
          <a:lstStyle/>
          <a:p>
            <a:pPr marL="0" indent="0" algn="l">
              <a:lnSpc>
                <a:spcPts val="7000"/>
              </a:lnSpc>
              <a:buNone/>
            </a:pPr>
            <a:r>
              <a:rPr lang="en-US" sz="7000" b="1" dirty="0">
                <a:solidFill>
                  <a:srgbClr val="E8A33D"/>
                </a:solidFill>
                <a:latin typeface="Source Serif 4" pitchFamily="18" charset="0"/>
                <a:ea typeface="Source Serif 4" pitchFamily="18" charset="-122"/>
                <a:cs typeface="Source Serif 4" pitchFamily="18" charset="-120"/>
              </a:rPr>
              <a:t>−88</a:t>
            </a:r>
            <a:endParaRPr lang="en-US" sz="7000" dirty="0"/>
          </a:p>
        </p:txBody>
      </p:sp>
      <p:sp>
        <p:nvSpPr>
          <p:cNvPr id="9" name="Text 7"/>
          <p:cNvSpPr/>
          <p:nvPr/>
        </p:nvSpPr>
        <p:spPr>
          <a:xfrm>
            <a:off x="6299200" y="4061470"/>
            <a:ext cx="523240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3E3"/>
                </a:solidFill>
                <a:latin typeface="IBM Plex Sans" pitchFamily="34" charset="0"/>
                <a:ea typeface="IBM Plex Sans" pitchFamily="34" charset="-122"/>
                <a:cs typeface="IBM Plex Sans" pitchFamily="34" charset="-120"/>
              </a:rPr>
              <a:t>minutes per +10 points, including hurricanes, ice storms and wildfires</a:t>
            </a:r>
            <a:endParaRPr lang="en-US" sz="1600" dirty="0"/>
          </a:p>
        </p:txBody>
      </p:sp>
      <p:sp>
        <p:nvSpPr>
          <p:cNvPr id="10" name="Text 8"/>
          <p:cNvSpPr/>
          <p:nvPr/>
        </p:nvSpPr>
        <p:spPr>
          <a:xfrm>
            <a:off x="812800" y="5201940"/>
            <a:ext cx="9810750" cy="66546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F6F4EE"/>
                </a:solidFill>
                <a:latin typeface="IBM Plex Sans" pitchFamily="34" charset="0"/>
                <a:ea typeface="IBM Plex Sans" pitchFamily="34" charset="-122"/>
                <a:cs typeface="IBM Plex Sans" pitchFamily="34" charset="-120"/>
              </a:rPr>
              <a:t>Burying lines works like storm insurance: overhead lines go down in disasters</a:t>
            </a:r>
            <a:endParaRPr lang="en-US" sz="18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dirty="0">
                <a:solidFill>
                  <a:srgbClr val="9AA7BF"/>
                </a:solidFill>
                <a:latin typeface="IBM Plex Sans" pitchFamily="34" charset="0"/>
                <a:ea typeface="IBM Plex Sans" pitchFamily="34" charset="-122"/>
                <a:cs typeface="IBM Plex Sans" pitchFamily="34" charset="-120"/>
              </a:rPr>
              <a:t>Regression 2 rerun with SAIDI including major event days · Both p ≤ 0.001 · R² falls to 0.06.</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807641"/>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Source Serif 4" pitchFamily="18" charset="0"/>
                <a:ea typeface="Source Serif 4" pitchFamily="18" charset="-122"/>
                <a:cs typeface="Source Serif 4" pitchFamily="18" charset="-120"/>
              </a:rPr>
              <a:t>Raising the 2025 worst 10 companies to average underground share saves 37 minutes or 9.4% on average</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2786006226"/>
              </p:ext>
            </p:extLst>
          </p:nvPr>
        </p:nvGraphicFramePr>
        <p:xfrm>
          <a:off x="825500" y="1810941"/>
          <a:ext cx="10553700" cy="3952531"/>
        </p:xfrm>
        <a:graphic>
          <a:graphicData uri="http://schemas.openxmlformats.org/drawingml/2006/table">
            <a:tbl>
              <a:tblPr/>
              <a:tblGrid>
                <a:gridCol w="4643628">
                  <a:extLst>
                    <a:ext uri="{9D8B030D-6E8A-4147-A177-3AD203B41FA5}">
                      <a16:colId xmlns:a16="http://schemas.microsoft.com/office/drawing/2014/main" val="20000"/>
                    </a:ext>
                  </a:extLst>
                </a:gridCol>
                <a:gridCol w="1055370">
                  <a:extLst>
                    <a:ext uri="{9D8B030D-6E8A-4147-A177-3AD203B41FA5}">
                      <a16:colId xmlns:a16="http://schemas.microsoft.com/office/drawing/2014/main" val="20001"/>
                    </a:ext>
                  </a:extLst>
                </a:gridCol>
                <a:gridCol w="1688592">
                  <a:extLst>
                    <a:ext uri="{9D8B030D-6E8A-4147-A177-3AD203B41FA5}">
                      <a16:colId xmlns:a16="http://schemas.microsoft.com/office/drawing/2014/main" val="20002"/>
                    </a:ext>
                  </a:extLst>
                </a:gridCol>
                <a:gridCol w="1583055">
                  <a:extLst>
                    <a:ext uri="{9D8B030D-6E8A-4147-A177-3AD203B41FA5}">
                      <a16:colId xmlns:a16="http://schemas.microsoft.com/office/drawing/2014/main" val="20003"/>
                    </a:ext>
                  </a:extLst>
                </a:gridCol>
                <a:gridCol w="1583055">
                  <a:extLst>
                    <a:ext uri="{9D8B030D-6E8A-4147-A177-3AD203B41FA5}">
                      <a16:colId xmlns:a16="http://schemas.microsoft.com/office/drawing/2014/main" val="20004"/>
                    </a:ext>
                  </a:extLst>
                </a:gridCol>
              </a:tblGrid>
              <a:tr h="359321">
                <a:tc>
                  <a:txBody>
                    <a:bodyPr/>
                    <a:lstStyle/>
                    <a:p>
                      <a:pPr marL="0" indent="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Utility (2025)</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State</a:t>
                      </a:r>
                      <a:endParaRPr lang="en-US" sz="1300" dirty="0">
                        <a:latin typeface="IBM Plex Sans" charset="0"/>
                        <a:ea typeface="IBM Plex Sans" charset="0"/>
                        <a:cs typeface="IBM Plex Sans" charset="0"/>
                      </a:endParaRPr>
                    </a:p>
                  </a:txBody>
                  <a:tcPr marL="57785" marR="57785" marT="57785" marB="57785">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gn="r">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Outage min</a:t>
                      </a:r>
                      <a:endParaRPr lang="en-US" sz="1300" dirty="0">
                        <a:latin typeface="IBM Plex Sans" charset="0"/>
                        <a:ea typeface="IBM Plex Sans" charset="0"/>
                        <a:cs typeface="IBM Plex Sans" charset="0"/>
                      </a:endParaRPr>
                    </a:p>
                  </a:txBody>
                  <a:tcPr marL="57785" marR="57785" marT="57785" marB="57785">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gn="r">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Underground</a:t>
                      </a:r>
                      <a:endParaRPr lang="en-US" sz="1300" dirty="0">
                        <a:latin typeface="IBM Plex Sans" charset="0"/>
                        <a:ea typeface="IBM Plex Sans" charset="0"/>
                        <a:cs typeface="IBM Plex Sans" charset="0"/>
                      </a:endParaRPr>
                    </a:p>
                  </a:txBody>
                  <a:tcPr marL="57785" marR="57785" marT="57785" marB="57785">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gn="r">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Min saved</a:t>
                      </a:r>
                      <a:endParaRPr lang="en-US" sz="1300" dirty="0">
                        <a:latin typeface="IBM Plex Sans" charset="0"/>
                        <a:ea typeface="IBM Plex Sans" charset="0"/>
                        <a:cs typeface="IBM Plex Sans" charset="0"/>
                      </a:endParaRPr>
                    </a:p>
                  </a:txBody>
                  <a:tcPr marL="57785" marR="57785" marT="57785" marB="57785">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extLst>
                  <a:ext uri="{0D108BD9-81ED-4DB2-BD59-A6C34878D82A}">
                    <a16:rowId xmlns:a16="http://schemas.microsoft.com/office/drawing/2014/main" val="10000"/>
                  </a:ext>
                </a:extLst>
              </a:tr>
              <a:tr h="35932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Monongahela Power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WV</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553</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8%</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64</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1"/>
                  </a:ext>
                </a:extLst>
              </a:tr>
              <a:tr h="35932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Appalachian Power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WV</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546</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17%</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46</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2"/>
                  </a:ext>
                </a:extLst>
              </a:tr>
              <a:tr h="35932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Wheeling Power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WV</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426</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34%</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9</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3"/>
                  </a:ext>
                </a:extLst>
              </a:tr>
              <a:tr h="35932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Entergy Mississippi</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MS</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410</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15%</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50</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4"/>
                  </a:ext>
                </a:extLst>
              </a:tr>
              <a:tr h="35932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Kentucky Power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BDBAB2"/>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DBAB2"/>
                      </a:solidFill>
                      <a:prstDash val="solid"/>
                      <a:round/>
                      <a:headEnd type="none" w="med" len="med"/>
                      <a:tailEnd type="none" w="med" len="med"/>
                    </a:lnB>
                    <a:solidFill>
                      <a:srgbClr val="EDE9DF"/>
                    </a:solidFill>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KY</a:t>
                      </a:r>
                      <a:endParaRPr lang="en-US" sz="1300" dirty="0">
                        <a:latin typeface="IBM Plex Sans" charset="0"/>
                        <a:ea typeface="IBM Plex Sans" charset="0"/>
                        <a:cs typeface="IBM Plex Sans" charset="0"/>
                      </a:endParaRPr>
                    </a:p>
                  </a:txBody>
                  <a:tcPr marL="57785" marR="57785" marT="57785" marB="57785">
                    <a:lnL w="12700" cap="flat" cmpd="sng" algn="ctr">
                      <a:solidFill>
                        <a:srgbClr val="BDBAB2"/>
                      </a:solidFill>
                      <a:prstDash val="solid"/>
                      <a:round/>
                      <a:headEnd type="none" w="med" len="med"/>
                      <a:tailEnd type="none" w="med" len="med"/>
                    </a:lnL>
                    <a:lnR w="12700" cap="flat" cmpd="sng" algn="ctr">
                      <a:solidFill>
                        <a:srgbClr val="BDBAB2"/>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DBAB2"/>
                      </a:solidFill>
                      <a:prstDash val="solid"/>
                      <a:round/>
                      <a:headEnd type="none" w="med" len="med"/>
                      <a:tailEnd type="none" w="med" len="med"/>
                    </a:lnB>
                    <a:solidFill>
                      <a:srgbClr val="EDE9DF"/>
                    </a:solidFill>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376</a:t>
                      </a:r>
                      <a:endParaRPr lang="en-US" sz="1300" dirty="0">
                        <a:latin typeface="IBM Plex Sans" charset="0"/>
                        <a:ea typeface="IBM Plex Sans" charset="0"/>
                        <a:cs typeface="IBM Plex Sans" charset="0"/>
                      </a:endParaRPr>
                    </a:p>
                  </a:txBody>
                  <a:tcPr marL="57785" marR="57785" marT="57785" marB="57785">
                    <a:lnL w="12700" cap="flat" cmpd="sng" algn="ctr">
                      <a:solidFill>
                        <a:srgbClr val="BDBAB2"/>
                      </a:solidFill>
                      <a:prstDash val="solid"/>
                      <a:round/>
                      <a:headEnd type="none" w="med" len="med"/>
                      <a:tailEnd type="none" w="med" len="med"/>
                    </a:lnL>
                    <a:lnR w="12700" cap="flat" cmpd="sng" algn="ctr">
                      <a:solidFill>
                        <a:srgbClr val="BDBAB2"/>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DBAB2"/>
                      </a:solidFill>
                      <a:prstDash val="solid"/>
                      <a:round/>
                      <a:headEnd type="none" w="med" len="med"/>
                      <a:tailEnd type="none" w="med" len="med"/>
                    </a:lnB>
                    <a:solidFill>
                      <a:srgbClr val="EDE9DF"/>
                    </a:solidFill>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3%</a:t>
                      </a:r>
                      <a:endParaRPr lang="en-US" sz="1300" dirty="0">
                        <a:latin typeface="IBM Plex Sans" charset="0"/>
                        <a:ea typeface="IBM Plex Sans" charset="0"/>
                        <a:cs typeface="IBM Plex Sans" charset="0"/>
                      </a:endParaRPr>
                    </a:p>
                  </a:txBody>
                  <a:tcPr marL="57785" marR="57785" marT="57785" marB="57785">
                    <a:lnL w="12700" cap="flat" cmpd="sng" algn="ctr">
                      <a:solidFill>
                        <a:srgbClr val="BDBAB2"/>
                      </a:solidFill>
                      <a:prstDash val="solid"/>
                      <a:round/>
                      <a:headEnd type="none" w="med" len="med"/>
                      <a:tailEnd type="none" w="med" len="med"/>
                    </a:lnL>
                    <a:lnR w="12700" cap="flat" cmpd="sng" algn="ctr">
                      <a:solidFill>
                        <a:srgbClr val="BDBAB2"/>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DBAB2"/>
                      </a:solidFill>
                      <a:prstDash val="solid"/>
                      <a:round/>
                      <a:headEnd type="none" w="med" len="med"/>
                      <a:tailEnd type="none" w="med" len="med"/>
                    </a:lnB>
                    <a:solidFill>
                      <a:srgbClr val="EDE9DF"/>
                    </a:solidFill>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75</a:t>
                      </a:r>
                      <a:endParaRPr lang="en-US" sz="1300" dirty="0">
                        <a:latin typeface="IBM Plex Sans" charset="0"/>
                        <a:ea typeface="IBM Plex Sans" charset="0"/>
                        <a:cs typeface="IBM Plex Sans" charset="0"/>
                      </a:endParaRPr>
                    </a:p>
                  </a:txBody>
                  <a:tcPr marL="57785" marR="57785" marT="57785" marB="57785">
                    <a:lnL w="12700" cap="flat" cmpd="sng" algn="ctr">
                      <a:solidFill>
                        <a:srgbClr val="BDBAB2"/>
                      </a:solidFill>
                      <a:prstDash val="solid"/>
                      <a:round/>
                      <a:headEnd type="none" w="med" len="med"/>
                      <a:tailEnd type="none" w="med" len="med"/>
                    </a:lnL>
                    <a:lnR w="12700" cap="flat" cmpd="sng" algn="ctr">
                      <a:solidFill>
                        <a:srgbClr val="BDBAB2"/>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DBAB2"/>
                      </a:solidFill>
                      <a:prstDash val="solid"/>
                      <a:round/>
                      <a:headEnd type="none" w="med" len="med"/>
                      <a:tailEnd type="none" w="med" len="med"/>
                    </a:lnB>
                    <a:solidFill>
                      <a:srgbClr val="EDE9DF"/>
                    </a:solidFill>
                  </a:tcPr>
                </a:tc>
                <a:extLst>
                  <a:ext uri="{0D108BD9-81ED-4DB2-BD59-A6C34878D82A}">
                    <a16:rowId xmlns:a16="http://schemas.microsoft.com/office/drawing/2014/main" val="10005"/>
                  </a:ext>
                </a:extLst>
              </a:tr>
              <a:tr h="35932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Alaska Electric Light &amp; Power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DBAB2"/>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AK</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DBAB2"/>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369</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DBAB2"/>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38%</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DBAB2"/>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0</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DBAB2"/>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6"/>
                  </a:ext>
                </a:extLst>
              </a:tr>
              <a:tr h="35932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Southwestern Electric Power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LA</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332</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24%</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30</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7"/>
                  </a:ext>
                </a:extLst>
              </a:tr>
              <a:tr h="35932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Appalachian Power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VA</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328</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17%</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46</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8"/>
                  </a:ext>
                </a:extLst>
              </a:tr>
              <a:tr h="35932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Southwestern Electric Power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TX</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312</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24%</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30</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9"/>
                  </a:ext>
                </a:extLst>
              </a:tr>
              <a:tr h="359321">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Entergy Texas</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TX</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305</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27%</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22</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4" name="Text 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4"/>
                </a:solidFill>
                <a:latin typeface="IBM Plex Sans" pitchFamily="34" charset="0"/>
                <a:ea typeface="IBM Plex Sans" pitchFamily="34" charset="-122"/>
                <a:cs typeface="IBM Plex Sans" pitchFamily="34" charset="-120"/>
              </a:rPr>
              <a:t>Predicted with Multiple Regression, raising underground share to the </a:t>
            </a:r>
            <a:r>
              <a:rPr lang="en-US" sz="1200" b="1" dirty="0">
                <a:solidFill>
                  <a:srgbClr val="5B6474"/>
                </a:solidFill>
                <a:latin typeface="IBM Plex Sans" pitchFamily="34" charset="0"/>
                <a:ea typeface="IBM Plex Sans" pitchFamily="34" charset="-122"/>
                <a:cs typeface="IBM Plex Sans" pitchFamily="34" charset="-120"/>
              </a:rPr>
              <a:t>37.9% average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65F12"/>
                </a:solidFill>
                <a:latin typeface="IBM Plex Sans" pitchFamily="34" charset="0"/>
                <a:ea typeface="IBM Plex Sans" pitchFamily="34" charset="-122"/>
                <a:cs typeface="IBM Plex Sans" pitchFamily="34" charset="-120"/>
              </a:rPr>
              <a:t>LIMITATIONS</a:t>
            </a:r>
            <a:endParaRPr lang="en-US" sz="1200" dirty="0"/>
          </a:p>
        </p:txBody>
      </p:sp>
      <p:sp>
        <p:nvSpPr>
          <p:cNvPr id="3" name="Text 1"/>
          <p:cNvSpPr>
            <a:spLocks noGrp="1"/>
          </p:cNvSpPr>
          <p:nvPr>
            <p:ph type="title"/>
          </p:nvPr>
        </p:nvSpPr>
        <p:spPr>
          <a:xfrm>
            <a:off x="812800" y="11785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What this analysis </a:t>
            </a:r>
            <a:r>
              <a:rPr lang="en-US" b="1" dirty="0">
                <a:latin typeface="Source Serif 4" pitchFamily="18" charset="0"/>
                <a:ea typeface="Source Serif 4" pitchFamily="18" charset="-122"/>
                <a:cs typeface="Source Serif 4" pitchFamily="18" charset="-120"/>
              </a:rPr>
              <a:t>does not</a:t>
            </a:r>
            <a:r>
              <a:rPr lang="en-US" sz="3600" b="1" i="0" dirty="0">
                <a:solidFill>
                  <a:srgbClr val="14213D"/>
                </a:solidFill>
                <a:latin typeface="Source Serif 4" pitchFamily="18" charset="0"/>
                <a:ea typeface="Source Serif 4" pitchFamily="18" charset="-122"/>
                <a:cs typeface="Source Serif 4" pitchFamily="18" charset="-120"/>
              </a:rPr>
              <a:t> tell us</a:t>
            </a:r>
            <a:endParaRPr lang="en-US" sz="3600" dirty="0"/>
          </a:p>
        </p:txBody>
      </p:sp>
      <p:sp>
        <p:nvSpPr>
          <p:cNvPr id="4" name="Shape 2"/>
          <p:cNvSpPr/>
          <p:nvPr/>
        </p:nvSpPr>
        <p:spPr>
          <a:xfrm>
            <a:off x="815975" y="1989386"/>
            <a:ext cx="5175250" cy="1347391"/>
          </a:xfrm>
          <a:prstGeom prst="roundRect">
            <a:avLst>
              <a:gd name="adj" fmla="val 7305"/>
            </a:avLst>
          </a:prstGeom>
          <a:solidFill>
            <a:srgbClr val="FFFFFF"/>
          </a:solidFill>
          <a:ln w="6350">
            <a:solidFill>
              <a:srgbClr val="DCD8CC"/>
            </a:solidFill>
            <a:prstDash val="solid"/>
          </a:ln>
        </p:spPr>
        <p:txBody>
          <a:bodyPr/>
          <a:lstStyle/>
          <a:p>
            <a:endParaRPr lang="en-US"/>
          </a:p>
        </p:txBody>
      </p:sp>
      <p:sp>
        <p:nvSpPr>
          <p:cNvPr id="5" name="Text 3"/>
          <p:cNvSpPr/>
          <p:nvPr/>
        </p:nvSpPr>
        <p:spPr>
          <a:xfrm>
            <a:off x="1073150" y="2246561"/>
            <a:ext cx="4800727"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Correlation, not causation</a:t>
            </a:r>
            <a:endParaRPr lang="en-US" sz="1700" dirty="0"/>
          </a:p>
        </p:txBody>
      </p:sp>
      <p:sp>
        <p:nvSpPr>
          <p:cNvPr id="6" name="Text 4"/>
          <p:cNvSpPr/>
          <p:nvPr/>
        </p:nvSpPr>
        <p:spPr>
          <a:xfrm>
            <a:off x="1073150" y="2581821"/>
            <a:ext cx="4800727"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D4656"/>
                </a:solidFill>
                <a:latin typeface="IBM Plex Sans" pitchFamily="34" charset="0"/>
                <a:ea typeface="IBM Plex Sans" pitchFamily="34" charset="-122"/>
                <a:cs typeface="IBM Plex Sans" pitchFamily="34" charset="-120"/>
              </a:rPr>
              <a:t>Utilities with more buried lines may also be newer</a:t>
            </a:r>
            <a:endParaRPr lang="en-US" sz="1400" dirty="0"/>
          </a:p>
        </p:txBody>
      </p:sp>
      <p:sp>
        <p:nvSpPr>
          <p:cNvPr id="7" name="Shape 5"/>
          <p:cNvSpPr/>
          <p:nvPr/>
        </p:nvSpPr>
        <p:spPr>
          <a:xfrm>
            <a:off x="6200775" y="1989386"/>
            <a:ext cx="5175250" cy="1347391"/>
          </a:xfrm>
          <a:prstGeom prst="roundRect">
            <a:avLst>
              <a:gd name="adj" fmla="val 7305"/>
            </a:avLst>
          </a:prstGeom>
          <a:solidFill>
            <a:srgbClr val="FFFFFF"/>
          </a:solidFill>
          <a:ln w="6350">
            <a:solidFill>
              <a:srgbClr val="DCD8CC"/>
            </a:solidFill>
            <a:prstDash val="solid"/>
          </a:ln>
        </p:spPr>
        <p:txBody>
          <a:bodyPr/>
          <a:lstStyle/>
          <a:p>
            <a:endParaRPr lang="en-US"/>
          </a:p>
        </p:txBody>
      </p:sp>
      <p:sp>
        <p:nvSpPr>
          <p:cNvPr id="8" name="Text 6"/>
          <p:cNvSpPr/>
          <p:nvPr/>
        </p:nvSpPr>
        <p:spPr>
          <a:xfrm>
            <a:off x="6457950" y="2246561"/>
            <a:ext cx="4800727"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Dollars, not miles</a:t>
            </a:r>
            <a:endParaRPr lang="en-US" sz="1700" dirty="0"/>
          </a:p>
        </p:txBody>
      </p:sp>
      <p:sp>
        <p:nvSpPr>
          <p:cNvPr id="9" name="Text 7"/>
          <p:cNvSpPr/>
          <p:nvPr/>
        </p:nvSpPr>
        <p:spPr>
          <a:xfrm>
            <a:off x="6457950" y="2581821"/>
            <a:ext cx="4800727"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D4656"/>
                </a:solidFill>
                <a:latin typeface="IBM Plex Sans" pitchFamily="34" charset="0"/>
                <a:ea typeface="IBM Plex Sans" pitchFamily="34" charset="-122"/>
                <a:cs typeface="IBM Plex Sans" pitchFamily="34" charset="-120"/>
              </a:rPr>
              <a:t>Underground line costs more per mile</a:t>
            </a:r>
            <a:endParaRPr lang="en-US" sz="1400" dirty="0"/>
          </a:p>
        </p:txBody>
      </p:sp>
      <p:sp>
        <p:nvSpPr>
          <p:cNvPr id="13" name="Shape 11"/>
          <p:cNvSpPr/>
          <p:nvPr/>
        </p:nvSpPr>
        <p:spPr>
          <a:xfrm>
            <a:off x="3286252" y="3593952"/>
            <a:ext cx="5175250" cy="1347391"/>
          </a:xfrm>
          <a:prstGeom prst="roundRect">
            <a:avLst>
              <a:gd name="adj" fmla="val 7305"/>
            </a:avLst>
          </a:prstGeom>
          <a:solidFill>
            <a:srgbClr val="FFFFFF"/>
          </a:solidFill>
          <a:ln w="6350">
            <a:solidFill>
              <a:srgbClr val="DCD8CC"/>
            </a:solidFill>
            <a:prstDash val="solid"/>
          </a:ln>
        </p:spPr>
        <p:txBody>
          <a:bodyPr/>
          <a:lstStyle/>
          <a:p>
            <a:endParaRPr lang="en-US"/>
          </a:p>
        </p:txBody>
      </p:sp>
      <p:sp>
        <p:nvSpPr>
          <p:cNvPr id="14" name="Text 12"/>
          <p:cNvSpPr/>
          <p:nvPr/>
        </p:nvSpPr>
        <p:spPr>
          <a:xfrm>
            <a:off x="3531844" y="3760963"/>
            <a:ext cx="4800727"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Extreme Weather</a:t>
            </a:r>
            <a:endParaRPr lang="en-US" sz="1700" dirty="0"/>
          </a:p>
        </p:txBody>
      </p:sp>
      <p:sp>
        <p:nvSpPr>
          <p:cNvPr id="15" name="Text 13"/>
          <p:cNvSpPr/>
          <p:nvPr/>
        </p:nvSpPr>
        <p:spPr>
          <a:xfrm>
            <a:off x="3531844" y="4156573"/>
            <a:ext cx="4800727"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D4656"/>
                </a:solidFill>
                <a:latin typeface="IBM Plex Sans" pitchFamily="34" charset="0"/>
                <a:ea typeface="IBM Plex Sans" pitchFamily="34" charset="-122"/>
                <a:cs typeface="IBM Plex Sans" pitchFamily="34" charset="-120"/>
              </a:rPr>
              <a:t>Ordinary storms aren’t controlled for</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E8A33D"/>
                </a:solidFill>
                <a:latin typeface="IBM Plex Sans" pitchFamily="34" charset="0"/>
                <a:ea typeface="IBM Plex Sans" pitchFamily="34" charset="-122"/>
                <a:cs typeface="IBM Plex Sans" pitchFamily="34" charset="-120"/>
              </a:rPr>
              <a:t>TAKEAWAY AND NEXT STEPS</a:t>
            </a:r>
            <a:endParaRPr lang="en-US" sz="1200" dirty="0"/>
          </a:p>
        </p:txBody>
      </p:sp>
      <p:sp>
        <p:nvSpPr>
          <p:cNvPr id="3" name="Text 1"/>
          <p:cNvSpPr>
            <a:spLocks noGrp="1"/>
          </p:cNvSpPr>
          <p:nvPr>
            <p:ph type="title"/>
          </p:nvPr>
        </p:nvSpPr>
        <p:spPr>
          <a:xfrm>
            <a:off x="812800" y="1178520"/>
            <a:ext cx="10137775" cy="11430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F6F4EE"/>
                </a:solidFill>
                <a:latin typeface="Source Serif 4" pitchFamily="18" charset="0"/>
                <a:ea typeface="Source Serif 4" pitchFamily="18" charset="-122"/>
                <a:cs typeface="Source Serif 4" pitchFamily="18" charset="-120"/>
              </a:rPr>
              <a:t>Buried lines are the one investment tied to fewer outages in every model</a:t>
            </a:r>
            <a:endParaRPr lang="en-US" sz="4000" dirty="0"/>
          </a:p>
        </p:txBody>
      </p:sp>
      <p:sp>
        <p:nvSpPr>
          <p:cNvPr id="5" name="Text 3"/>
          <p:cNvSpPr/>
          <p:nvPr/>
        </p:nvSpPr>
        <p:spPr>
          <a:xfrm>
            <a:off x="812800" y="2433381"/>
            <a:ext cx="10883392"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E8A33D"/>
                </a:solidFill>
                <a:latin typeface="IBM Plex Sans" pitchFamily="34" charset="0"/>
                <a:ea typeface="IBM Plex Sans" pitchFamily="34" charset="-122"/>
                <a:cs typeface="IBM Plex Sans" pitchFamily="34" charset="-120"/>
              </a:rPr>
              <a:t>Next Steps</a:t>
            </a:r>
            <a:endParaRPr lang="en-US" sz="1800" dirty="0"/>
          </a:p>
        </p:txBody>
      </p:sp>
      <p:sp>
        <p:nvSpPr>
          <p:cNvPr id="6" name="Text 4"/>
          <p:cNvSpPr/>
          <p:nvPr/>
        </p:nvSpPr>
        <p:spPr>
          <a:xfrm>
            <a:off x="686943" y="2832059"/>
            <a:ext cx="10818114" cy="939800"/>
          </a:xfrm>
          <a:prstGeom prst="rect">
            <a:avLst/>
          </a:prstGeom>
          <a:noFill/>
          <a:ln/>
        </p:spPr>
        <p:txBody>
          <a:bodyPr wrap="square" lIns="0" tIns="0" rIns="0" bIns="0" rtlCol="0" anchor="t">
            <a:normAutofit/>
          </a:bodyPr>
          <a:lstStyle/>
          <a:p>
            <a:pPr marL="196342" indent="-196342" algn="l">
              <a:lnSpc>
                <a:spcPts val="2400"/>
              </a:lnSpc>
              <a:buSzPct val="100000"/>
              <a:buChar char="•"/>
            </a:pPr>
            <a:r>
              <a:rPr lang="en-US" sz="1600" dirty="0">
                <a:solidFill>
                  <a:srgbClr val="C9D3E3"/>
                </a:solidFill>
                <a:latin typeface="IBM Plex Sans" pitchFamily="34" charset="0"/>
                <a:ea typeface="IBM Plex Sans" pitchFamily="34" charset="-122"/>
                <a:cs typeface="IBM Plex Sans" pitchFamily="34" charset="-120"/>
              </a:rPr>
              <a:t>Cost per outage minute saved: undergrounding cost per mile against minutes gained</a:t>
            </a:r>
            <a:endParaRPr lang="en-US" sz="1600" dirty="0"/>
          </a:p>
          <a:p>
            <a:pPr marL="196342" indent="-196342" algn="l">
              <a:lnSpc>
                <a:spcPts val="2400"/>
              </a:lnSpc>
              <a:buSzPct val="100000"/>
              <a:buChar char="•"/>
            </a:pPr>
            <a:r>
              <a:rPr lang="en-US" sz="1600" dirty="0">
                <a:solidFill>
                  <a:srgbClr val="C9D3E3"/>
                </a:solidFill>
                <a:latin typeface="IBM Plex Sans" pitchFamily="34" charset="0"/>
                <a:ea typeface="IBM Plex Sans" pitchFamily="34" charset="-122"/>
                <a:cs typeface="IBM Plex Sans" pitchFamily="34" charset="-120"/>
              </a:rPr>
              <a:t>Add weather data by state to separate storms from utility performance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65F12"/>
                </a:solidFill>
                <a:latin typeface="IBM Plex Sans" pitchFamily="34" charset="0"/>
                <a:ea typeface="IBM Plex Sans" pitchFamily="34" charset="-122"/>
                <a:cs typeface="IBM Plex Sans" pitchFamily="34" charset="-120"/>
              </a:rPr>
              <a:t>APPENDIX</a:t>
            </a:r>
            <a:endParaRPr lang="en-US" sz="1200" dirty="0"/>
          </a:p>
        </p:txBody>
      </p:sp>
      <p:sp>
        <p:nvSpPr>
          <p:cNvPr id="3" name="Text 1"/>
          <p:cNvSpPr>
            <a:spLocks noGrp="1"/>
          </p:cNvSpPr>
          <p:nvPr>
            <p:ph type="title"/>
          </p:nvPr>
        </p:nvSpPr>
        <p:spPr>
          <a:xfrm>
            <a:off x="812800" y="11785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Contributions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736051995"/>
              </p:ext>
            </p:extLst>
          </p:nvPr>
        </p:nvGraphicFramePr>
        <p:xfrm>
          <a:off x="825500" y="1998911"/>
          <a:ext cx="10559282" cy="1238250"/>
        </p:xfrm>
        <a:graphic>
          <a:graphicData uri="http://schemas.openxmlformats.org/drawingml/2006/table">
            <a:tbl>
              <a:tblPr/>
              <a:tblGrid>
                <a:gridCol w="3166110">
                  <a:extLst>
                    <a:ext uri="{9D8B030D-6E8A-4147-A177-3AD203B41FA5}">
                      <a16:colId xmlns:a16="http://schemas.microsoft.com/office/drawing/2014/main" val="20000"/>
                    </a:ext>
                  </a:extLst>
                </a:gridCol>
                <a:gridCol w="5276850">
                  <a:extLst>
                    <a:ext uri="{9D8B030D-6E8A-4147-A177-3AD203B41FA5}">
                      <a16:colId xmlns:a16="http://schemas.microsoft.com/office/drawing/2014/main" val="20001"/>
                    </a:ext>
                  </a:extLst>
                </a:gridCol>
                <a:gridCol w="2116322">
                  <a:extLst>
                    <a:ext uri="{9D8B030D-6E8A-4147-A177-3AD203B41FA5}">
                      <a16:colId xmlns:a16="http://schemas.microsoft.com/office/drawing/2014/main" val="20002"/>
                    </a:ext>
                  </a:extLst>
                </a:gridCol>
              </a:tblGrid>
              <a:tr h="412750">
                <a:tc>
                  <a:txBody>
                    <a:bodyPr/>
                    <a:lstStyle/>
                    <a:p>
                      <a:pPr marL="0" indent="0">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Team member</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Contributed</a:t>
                      </a:r>
                      <a:endParaRPr lang="en-US" sz="1500" dirty="0">
                        <a:latin typeface="IBM Plex Sans" charset="0"/>
                        <a:ea typeface="IBM Plex Sans" charset="0"/>
                        <a:cs typeface="IBM Plex Sans" charset="0"/>
                      </a:endParaRPr>
                    </a:p>
                  </a:txBody>
                  <a:tcPr marL="66675" marR="66675" marT="66675" marB="66675">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marL="0" indent="0" algn="r">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Share</a:t>
                      </a:r>
                      <a:endParaRPr lang="en-US" sz="1500" dirty="0">
                        <a:latin typeface="IBM Plex Sans" charset="0"/>
                        <a:ea typeface="IBM Plex Sans" charset="0"/>
                        <a:cs typeface="IBM Plex Sans" charset="0"/>
                      </a:endParaRPr>
                    </a:p>
                  </a:txBody>
                  <a:tcPr marL="66675" marR="66675" marT="66675" marB="66675">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extLst>
                  <a:ext uri="{0D108BD9-81ED-4DB2-BD59-A6C34878D82A}">
                    <a16:rowId xmlns:a16="http://schemas.microsoft.com/office/drawing/2014/main" val="10000"/>
                  </a:ext>
                </a:extLst>
              </a:tr>
              <a:tr h="41275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Andrew Massa</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2100"/>
                        </a:lnSpc>
                        <a:buNone/>
                      </a:pPr>
                      <a:r>
                        <a:rPr lang="en-US" sz="1500" dirty="0">
                          <a:latin typeface="IBM Plex Sans" charset="0"/>
                          <a:ea typeface="IBM Plex Sans" charset="0"/>
                          <a:cs typeface="IBM Plex Sans" charset="0"/>
                        </a:rPr>
                        <a:t>Cleaning and Merging Data, Power Point Slides</a:t>
                      </a: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2100"/>
                        </a:lnSpc>
                        <a:buNone/>
                      </a:pPr>
                      <a:r>
                        <a:rPr lang="en-US" sz="1500" dirty="0">
                          <a:latin typeface="IBM Plex Sans" charset="0"/>
                          <a:ea typeface="IBM Plex Sans" charset="0"/>
                          <a:cs typeface="IBM Plex Sans" charset="0"/>
                        </a:rPr>
                        <a:t>100%, 50%</a:t>
                      </a: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1"/>
                  </a:ext>
                </a:extLst>
              </a:tr>
              <a:tr h="412750">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Jeremiah Cedano</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2100"/>
                        </a:lnSpc>
                        <a:buNone/>
                      </a:pPr>
                      <a:r>
                        <a:rPr lang="en-US" sz="1500" dirty="0">
                          <a:solidFill>
                            <a:srgbClr val="14213D"/>
                          </a:solidFill>
                          <a:latin typeface="IBM Plex Sans" pitchFamily="34" charset="0"/>
                          <a:ea typeface="IBM Plex Sans" pitchFamily="34" charset="-122"/>
                          <a:cs typeface="IBM Plex Sans" pitchFamily="34" charset="-120"/>
                        </a:rPr>
                        <a:t>Analysis of Data, Power Point Slides</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marR="0" lvl="0" indent="0" algn="r" defTabSz="914400" rtl="0" eaLnBrk="1" fontAlgn="auto" latinLnBrk="0" hangingPunct="1">
                        <a:lnSpc>
                          <a:spcPts val="2100"/>
                        </a:lnSpc>
                        <a:spcBef>
                          <a:spcPts val="0"/>
                        </a:spcBef>
                        <a:spcAft>
                          <a:spcPts val="0"/>
                        </a:spcAft>
                        <a:buClrTx/>
                        <a:buSzTx/>
                        <a:buFontTx/>
                        <a:buNone/>
                        <a:tabLst/>
                        <a:defRPr/>
                      </a:pPr>
                      <a:r>
                        <a:rPr lang="en-US" sz="1500">
                          <a:latin typeface="IBM Plex Sans" charset="0"/>
                          <a:ea typeface="IBM Plex Sans" charset="0"/>
                          <a:cs typeface="IBM Plex Sans" charset="0"/>
                        </a:rPr>
                        <a:t>100%, 50%</a:t>
                      </a: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a:extLst>
            <a:ext uri="{FF2B5EF4-FFF2-40B4-BE49-F238E27FC236}">
              <a16:creationId xmlns:a16="http://schemas.microsoft.com/office/drawing/2014/main" id="{5049427E-51A8-BB78-5668-0342ED9E121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BE2E64C-3765-CC7F-D180-286790694D89}"/>
              </a:ext>
            </a:extLst>
          </p:cNvPr>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A65F12"/>
                </a:solidFill>
                <a:latin typeface="IBM Plex Sans" pitchFamily="34" charset="0"/>
                <a:ea typeface="IBM Plex Sans" pitchFamily="34" charset="-122"/>
                <a:cs typeface="IBM Plex Sans" pitchFamily="34" charset="-120"/>
              </a:rPr>
              <a:t>Link</a:t>
            </a:r>
            <a:endParaRPr lang="en-US" sz="1200" dirty="0"/>
          </a:p>
        </p:txBody>
      </p:sp>
      <p:sp>
        <p:nvSpPr>
          <p:cNvPr id="3" name="Text 1">
            <a:extLst>
              <a:ext uri="{FF2B5EF4-FFF2-40B4-BE49-F238E27FC236}">
                <a16:creationId xmlns:a16="http://schemas.microsoft.com/office/drawing/2014/main" id="{A6E879FB-8784-958B-6F38-A3847BC7096E}"/>
              </a:ext>
            </a:extLst>
          </p:cNvPr>
          <p:cNvSpPr>
            <a:spLocks noGrp="1"/>
          </p:cNvSpPr>
          <p:nvPr>
            <p:ph type="title"/>
          </p:nvPr>
        </p:nvSpPr>
        <p:spPr>
          <a:xfrm>
            <a:off x="812800" y="11785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err="1">
                <a:solidFill>
                  <a:srgbClr val="14213D"/>
                </a:solidFill>
                <a:latin typeface="Source Serif 4" pitchFamily="18" charset="0"/>
                <a:ea typeface="Source Serif 4" pitchFamily="18" charset="-122"/>
                <a:cs typeface="Source Serif 4" pitchFamily="18" charset="-120"/>
              </a:rPr>
              <a:t>Github</a:t>
            </a:r>
            <a:endParaRPr lang="en-US" sz="3600" dirty="0"/>
          </a:p>
        </p:txBody>
      </p:sp>
      <p:sp>
        <p:nvSpPr>
          <p:cNvPr id="5" name="TextBox 4">
            <a:extLst>
              <a:ext uri="{FF2B5EF4-FFF2-40B4-BE49-F238E27FC236}">
                <a16:creationId xmlns:a16="http://schemas.microsoft.com/office/drawing/2014/main" id="{B51972A4-51DB-3A69-6049-FBAACFFD81C9}"/>
              </a:ext>
            </a:extLst>
          </p:cNvPr>
          <p:cNvSpPr txBox="1"/>
          <p:nvPr/>
        </p:nvSpPr>
        <p:spPr>
          <a:xfrm>
            <a:off x="1585813" y="2250831"/>
            <a:ext cx="7507032" cy="1200329"/>
          </a:xfrm>
          <a:prstGeom prst="rect">
            <a:avLst/>
          </a:prstGeom>
          <a:noFill/>
        </p:spPr>
        <p:txBody>
          <a:bodyPr wrap="square" rtlCol="0">
            <a:spAutoFit/>
          </a:bodyPr>
          <a:lstStyle/>
          <a:p>
            <a:r>
              <a:rPr lang="en-US" dirty="0"/>
              <a:t>Andrew: </a:t>
            </a:r>
            <a:r>
              <a:rPr lang="en-US" dirty="0">
                <a:hlinkClick r:id="rId3"/>
              </a:rPr>
              <a:t>https://github.com/amassa96/MSBA_502/tree/main/Project</a:t>
            </a:r>
            <a:endParaRPr lang="en-US" dirty="0"/>
          </a:p>
          <a:p>
            <a:endParaRPr lang="en-US" dirty="0"/>
          </a:p>
          <a:p>
            <a:r>
              <a:rPr lang="en-US" dirty="0"/>
              <a:t>Jeremiah: </a:t>
            </a:r>
            <a:r>
              <a:rPr lang="en-US" dirty="0">
                <a:hlinkClick r:id="rId4"/>
              </a:rPr>
              <a:t>https://github.com/jrcedano/MSBA-502-Utility-Reliability-Analysis/tree/main</a:t>
            </a:r>
            <a:endParaRPr lang="en-US" dirty="0"/>
          </a:p>
        </p:txBody>
      </p:sp>
    </p:spTree>
    <p:extLst>
      <p:ext uri="{BB962C8B-B14F-4D97-AF65-F5344CB8AC3E}">
        <p14:creationId xmlns:p14="http://schemas.microsoft.com/office/powerpoint/2010/main" val="4025131180"/>
      </p:ext>
    </p:extLst>
  </p:cSld>
  <p:clrMapOvr>
    <a:masterClrMapping/>
  </p:clrMapOvr>
</p:sld>
</file>

<file path=ppt/theme/theme1.xml><?xml version="1.0" encoding="utf-8"?>
<a:theme xmlns:a="http://schemas.openxmlformats.org/drawingml/2006/main" name="Burying the Lines: Underground Power and Outage Reliability">
  <a:themeElements>
    <a:clrScheme name="Burying the Lines: Underground Power and Outage Reliability">
      <a:dk1>
        <a:srgbClr val="14213D"/>
      </a:dk1>
      <a:lt1>
        <a:srgbClr val="F6F4EE"/>
      </a:lt1>
      <a:dk2>
        <a:srgbClr val="4D5669"/>
      </a:dk2>
      <a:lt2>
        <a:srgbClr val="DFDFDC"/>
      </a:lt2>
      <a:accent1>
        <a:srgbClr val="A65F12"/>
      </a:accent1>
      <a:accent2>
        <a:srgbClr val="E8A33D"/>
      </a:accent2>
      <a:accent3>
        <a:srgbClr val="3D4656"/>
      </a:accent3>
      <a:accent4>
        <a:srgbClr val="C9D3E3"/>
      </a:accent4>
      <a:accent5>
        <a:srgbClr val="5B6474"/>
      </a:accent5>
      <a:accent6>
        <a:srgbClr val="9AA7BF"/>
      </a:accent6>
      <a:hlink>
        <a:srgbClr val="0563C1"/>
      </a:hlink>
      <a:folHlink>
        <a:srgbClr val="954F72"/>
      </a:folHlink>
    </a:clrScheme>
    <a:fontScheme name="Burying the Lines: Underground Power and Outage Reliability">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178</TotalTime>
  <Words>1460</Words>
  <Application>Microsoft Office PowerPoint</Application>
  <PresentationFormat>Widescreen</PresentationFormat>
  <Paragraphs>219</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IBM Plex Sans</vt:lpstr>
      <vt:lpstr>Source Serif 4</vt:lpstr>
      <vt:lpstr>Burying the Lines: Underground Power and Outage Reliability</vt:lpstr>
      <vt:lpstr>Burying the Lines</vt:lpstr>
      <vt:lpstr>Some utilities keep the lights on. Others leave customers in the dark for hours.</vt:lpstr>
      <vt:lpstr>Four groups decide or pay for reliability</vt:lpstr>
      <vt:lpstr>Two federal sources, linked company by company</vt:lpstr>
      <vt:lpstr>One outcome, four things a utility can change</vt:lpstr>
      <vt:lpstr>Clean, merge, then regress</vt:lpstr>
      <vt:lpstr>More underground lines, fewer outage minutes</vt:lpstr>
      <vt:lpstr>Underground share holds up; smart meters and circuits do not</vt:lpstr>
      <vt:lpstr>On disaster days, underground lines matter four times more</vt:lpstr>
      <vt:lpstr>Raising the 2025 worst 10 companies to average underground share saves 37 minutes or 9.4% on average</vt:lpstr>
      <vt:lpstr>What this analysis does not tell us</vt:lpstr>
      <vt:lpstr>Buried lines are the one investment tied to fewer outages in every model</vt:lpstr>
      <vt:lpstr>Contributions</vt:lpstr>
      <vt:lpstr>Github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Burying the Lines: Underground Power and Outage Reliability</dc:title>
  <dc:subject/>
  <dc:creator/>
  <cp:lastModifiedBy>Andrew Massa</cp:lastModifiedBy>
  <cp:revision>1</cp:revision>
  <dcterms:created xsi:type="dcterms:W3CDTF">2026-10-19T03:13:17Z</dcterms:created>
  <dcterms:modified xsi:type="dcterms:W3CDTF">2026-10-19T19:58:44Z</dcterms:modified>
</cp:coreProperties>
</file>