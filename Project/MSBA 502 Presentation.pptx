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617FAD-FC99-B74B-9443-F0A2BAECE1F7}" v="1" dt="2026-10-19T03:29:13.6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301"/>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Massa" userId="8efb8a0e1b13d44c" providerId="LiveId" clId="{3ACF9128-E840-5959-BFC4-4A4B832DEB41}"/>
    <pc:docChg chg="modSld">
      <pc:chgData name="Andrew Massa" userId="8efb8a0e1b13d44c" providerId="LiveId" clId="{3ACF9128-E840-5959-BFC4-4A4B832DEB41}" dt="2026-10-19T03:29:15.042" v="121" actId="20577"/>
      <pc:docMkLst>
        <pc:docMk/>
      </pc:docMkLst>
      <pc:sldChg chg="modSp mod">
        <pc:chgData name="Andrew Massa" userId="8efb8a0e1b13d44c" providerId="LiveId" clId="{3ACF9128-E840-5959-BFC4-4A4B832DEB41}" dt="2026-10-19T03:29:15.042" v="121" actId="20577"/>
        <pc:sldMkLst>
          <pc:docMk/>
          <pc:sldMk cId="0" sldId="268"/>
        </pc:sldMkLst>
        <pc:graphicFrameChg chg="mod modGraphic">
          <ac:chgData name="Andrew Massa" userId="8efb8a0e1b13d44c" providerId="LiveId" clId="{3ACF9128-E840-5959-BFC4-4A4B832DEB41}" dt="2026-10-19T03:29:15.042" v="121" actId="20577"/>
          <ac:graphicFrameMkLst>
            <pc:docMk/>
            <pc:sldMk cId="0" sldId="268"/>
            <ac:graphicFrameMk id="4"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6727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every utility customer loses power sometimes, and some lose far more than others. We wanted to know which investments actually buy reliability, and whether burying power lines is worth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Outage time is measured with SAIDI, the average minutes a customer is without power in a year. We use the version that excludes major event days, so it reflects how a utility runs on normal days. Median 108 minutes, worst 929 (Wheeling Power, West Virginia, 2022). That spread is what we try to explain.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Investor-owned utilities are paid by their customers, and state regulators approve what they spend. So the question of which spending buys reliability matters to everyone on this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data came from PUDL, a nonprofit that publishes cleaned federal energy data. Each row is one utility in one state in one year. We kept only the IEEE version of SAIDI so every utility is measured the same way, and dropped Black Hills Power in Montana (30 to 47 customers), where one outage swings the numbers wildly.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X is a ratio, so big and small utilities can be compared fairly. Underground share uses FERC accounts 366 and 367 (underground conduit and cable) over 364 to 367 (adding poles and overhead wire). Maintenance uses accounts 593 and 594. Smart meters report outages automatically. Customers per circuit measures how many people lose power when one circuit fails.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Clustering matters because FERC reports per company, so a company in three states contributes three rows with the same underground share. Clustering tells the model those rows are not independent, which keeps the p-values honest. Coefficients do not change.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utility in one state in one year. The line keeps falling past 80 percent and dips below zero, which real outages cannot do; that is a limitation of a straight-line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the other variables constant, underground share drops from minus 29 to minus 22 minutes per 10 points, because part of the simple effect was really maintenance. The model warns about a large condition number; that comes from variables on very different scales, not real multicollinearity (the largest correlation between X variables is 0.32).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variables, different outcome: outage minutes including major event days. The underground coefficient goes from minus 216 to minus 879. Median outage time doubles from 108 to 212 minutes once major events are included. Smart meters and customers per circuit become barely significant here, but with an R squared of 0.06 we do not build the story on them. Underground share is the only variable significant in every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Kentucky Power, at 3 percent underground, gains the most at 75 minutes. Alaska Electric gains nothing because it is already at the average, so its outages come from something else. Appalachian Power and Southwestern Electric Power appear twice because underground share is reported per company. These use the normal-day model; with major events included, savings would be about four times larger. They are predictions from a correlation, not guarantees.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these; they are the most likely Q and A topics. Weather is handled only by excluding major event days. We tested company size (log of customers) as a control and it changed nothing: p equal to 0.80, R squared unchanged.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 finding that held everywhere: underground share is significant in the simple model, the full model and the major events model. The open question for MSBA 503 is cost: burying lines is expensive, so the next step is cost per minute saved.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Required by the rubric: each member's contribution to the slides, with percentages. Fill in the real split.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85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86211"/>
            <a:ext cx="10566400" cy="405898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85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86211"/>
            <a:ext cx="10566400" cy="405898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E8A33D"/>
                </a:solidFill>
                <a:latin typeface="IBM Plex Sans" pitchFamily="34" charset="0"/>
                <a:ea typeface="IBM Plex Sans" pitchFamily="34" charset="-122"/>
                <a:cs typeface="IBM Plex Sans" pitchFamily="34" charset="-120"/>
              </a:rPr>
              <a:t>MSBA 502</a:t>
            </a:r>
            <a:endParaRPr lang="en-US" sz="1400" dirty="0"/>
          </a:p>
        </p:txBody>
      </p:sp>
      <p:sp>
        <p:nvSpPr>
          <p:cNvPr id="3" name="Text 1"/>
          <p:cNvSpPr>
            <a:spLocks noGrp="1"/>
          </p:cNvSpPr>
          <p:nvPr>
            <p:ph type="title"/>
          </p:nvPr>
        </p:nvSpPr>
        <p:spPr>
          <a:xfrm>
            <a:off x="812800" y="2414339"/>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4EE"/>
                </a:solidFill>
                <a:latin typeface="Source Serif 4" pitchFamily="18" charset="0"/>
                <a:ea typeface="Source Serif 4" pitchFamily="18" charset="-122"/>
                <a:cs typeface="Source Serif 4" pitchFamily="18" charset="-120"/>
              </a:rPr>
              <a:t>Burying the Lines</a:t>
            </a:r>
            <a:endParaRPr lang="en-US" sz="6000" dirty="0"/>
          </a:p>
        </p:txBody>
      </p:sp>
      <p:sp>
        <p:nvSpPr>
          <p:cNvPr id="4" name="Text 2"/>
          <p:cNvSpPr/>
          <p:nvPr/>
        </p:nvSpPr>
        <p:spPr>
          <a:xfrm>
            <a:off x="812800" y="3468439"/>
            <a:ext cx="8502650"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E3"/>
                </a:solidFill>
                <a:latin typeface="IBM Plex Sans" pitchFamily="34" charset="0"/>
                <a:ea typeface="IBM Plex Sans" pitchFamily="34" charset="-122"/>
                <a:cs typeface="IBM Plex Sans" pitchFamily="34" charset="-120"/>
              </a:rPr>
              <a:t>Do underground power lines reduce outages at U.S. investor-owned utilities?</a:t>
            </a:r>
            <a:endParaRPr lang="en-US" sz="2200" dirty="0"/>
          </a:p>
        </p:txBody>
      </p:sp>
      <p:sp>
        <p:nvSpPr>
          <p:cNvPr id="5" name="Text 3"/>
          <p:cNvSpPr/>
          <p:nvPr/>
        </p:nvSpPr>
        <p:spPr>
          <a:xfrm>
            <a:off x="812800" y="5547420"/>
            <a:ext cx="1088339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Andrew Massa</a:t>
            </a:r>
            <a:endParaRPr lang="en-US" sz="1400" dirty="0"/>
          </a:p>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Jeremiah Cedano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65F12"/>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a:spLocks noGrp="1"/>
          </p:cNvSpPr>
          <p:nvPr>
            <p:ph type="title"/>
          </p:nvPr>
        </p:nvSpPr>
        <p:spPr>
          <a:xfrm>
            <a:off x="812800" y="1178520"/>
            <a:ext cx="9810750"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Some utilities keep the lights on. Others leave customers in the dark for hours.</a:t>
            </a:r>
            <a:endParaRPr lang="en-US" sz="3600" dirty="0"/>
          </a:p>
        </p:txBody>
      </p:sp>
      <p:sp>
        <p:nvSpPr>
          <p:cNvPr id="4" name="Shape 2"/>
          <p:cNvSpPr/>
          <p:nvPr/>
        </p:nvSpPr>
        <p:spPr>
          <a:xfrm>
            <a:off x="812800" y="3162300"/>
            <a:ext cx="5130800" cy="0"/>
          </a:xfrm>
          <a:prstGeom prst="line">
            <a:avLst/>
          </a:prstGeom>
          <a:noFill/>
          <a:ln w="25400">
            <a:solidFill>
              <a:srgbClr val="14213D"/>
            </a:solidFill>
            <a:prstDash val="solid"/>
          </a:ln>
        </p:spPr>
        <p:txBody>
          <a:bodyPr/>
          <a:lstStyle/>
          <a:p>
            <a:endParaRPr lang="en-US"/>
          </a:p>
        </p:txBody>
      </p:sp>
      <p:sp>
        <p:nvSpPr>
          <p:cNvPr id="5" name="Text 3"/>
          <p:cNvSpPr/>
          <p:nvPr/>
        </p:nvSpPr>
        <p:spPr>
          <a:xfrm>
            <a:off x="812800" y="3378200"/>
            <a:ext cx="528472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4213D"/>
                </a:solidFill>
                <a:latin typeface="Source Serif 4" pitchFamily="18" charset="0"/>
                <a:ea typeface="Source Serif 4" pitchFamily="18" charset="-122"/>
                <a:cs typeface="Source Serif 4" pitchFamily="18" charset="-120"/>
              </a:rPr>
              <a:t>108 min</a:t>
            </a:r>
            <a:endParaRPr lang="en-US" sz="6000" dirty="0"/>
          </a:p>
        </p:txBody>
      </p:sp>
      <p:sp>
        <p:nvSpPr>
          <p:cNvPr id="6" name="Text 4"/>
          <p:cNvSpPr/>
          <p:nvPr/>
        </p:nvSpPr>
        <p:spPr>
          <a:xfrm>
            <a:off x="812800" y="4191000"/>
            <a:ext cx="528472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656"/>
                </a:solidFill>
                <a:latin typeface="IBM Plex Sans" pitchFamily="34" charset="0"/>
                <a:ea typeface="IBM Plex Sans" pitchFamily="34" charset="-122"/>
                <a:cs typeface="IBM Plex Sans" pitchFamily="34" charset="-120"/>
              </a:rPr>
              <a:t>median outage time per customer per year, normal days</a:t>
            </a:r>
            <a:endParaRPr lang="en-US" sz="1600" dirty="0"/>
          </a:p>
        </p:txBody>
      </p:sp>
      <p:sp>
        <p:nvSpPr>
          <p:cNvPr id="7" name="Shape 5"/>
          <p:cNvSpPr/>
          <p:nvPr/>
        </p:nvSpPr>
        <p:spPr>
          <a:xfrm>
            <a:off x="6248400" y="3162300"/>
            <a:ext cx="5130800" cy="0"/>
          </a:xfrm>
          <a:prstGeom prst="line">
            <a:avLst/>
          </a:prstGeom>
          <a:noFill/>
          <a:ln w="25400">
            <a:solidFill>
              <a:srgbClr val="A65F12"/>
            </a:solidFill>
            <a:prstDash val="solid"/>
          </a:ln>
        </p:spPr>
        <p:txBody>
          <a:bodyPr/>
          <a:lstStyle/>
          <a:p>
            <a:endParaRPr lang="en-US"/>
          </a:p>
        </p:txBody>
      </p:sp>
      <p:sp>
        <p:nvSpPr>
          <p:cNvPr id="8" name="Text 6"/>
          <p:cNvSpPr/>
          <p:nvPr/>
        </p:nvSpPr>
        <p:spPr>
          <a:xfrm>
            <a:off x="6248400" y="3378200"/>
            <a:ext cx="528472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A65F12"/>
                </a:solidFill>
                <a:latin typeface="Source Serif 4" pitchFamily="18" charset="0"/>
                <a:ea typeface="Source Serif 4" pitchFamily="18" charset="-122"/>
                <a:cs typeface="Source Serif 4" pitchFamily="18" charset="-120"/>
              </a:rPr>
              <a:t>929 min</a:t>
            </a:r>
            <a:endParaRPr lang="en-US" sz="6000" dirty="0"/>
          </a:p>
        </p:txBody>
      </p:sp>
      <p:sp>
        <p:nvSpPr>
          <p:cNvPr id="9" name="Text 7"/>
          <p:cNvSpPr/>
          <p:nvPr/>
        </p:nvSpPr>
        <p:spPr>
          <a:xfrm>
            <a:off x="6248400" y="4191000"/>
            <a:ext cx="5284724"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656"/>
                </a:solidFill>
                <a:latin typeface="IBM Plex Sans" pitchFamily="34" charset="0"/>
                <a:ea typeface="IBM Plex Sans" pitchFamily="34" charset="-122"/>
                <a:cs typeface="IBM Plex Sans" pitchFamily="34" charset="-120"/>
              </a:rPr>
              <a:t>worst utility-year in our data, more than 8 times the median</a:t>
            </a:r>
            <a:endParaRPr lang="en-US" sz="1600" dirty="0"/>
          </a:p>
        </p:txBody>
      </p:sp>
      <p:sp>
        <p:nvSpPr>
          <p:cNvPr id="10" name="Text 8"/>
          <p:cNvSpPr/>
          <p:nvPr/>
        </p:nvSpPr>
        <p:spPr>
          <a:xfrm>
            <a:off x="812800" y="5725170"/>
            <a:ext cx="10883392"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4213D"/>
                </a:solidFill>
                <a:latin typeface="IBM Plex Sans" pitchFamily="34" charset="0"/>
                <a:ea typeface="IBM Plex Sans" pitchFamily="34" charset="-122"/>
                <a:cs typeface="IBM Plex Sans" pitchFamily="34" charset="-120"/>
              </a:rPr>
              <a:t>Question: which investments actually reduce outage minutes?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65F12"/>
                </a:solidFill>
                <a:latin typeface="IBM Plex Sans" pitchFamily="34" charset="0"/>
                <a:ea typeface="IBM Plex Sans" pitchFamily="34" charset="-122"/>
                <a:cs typeface="IBM Plex Sans" pitchFamily="34" charset="-120"/>
              </a:rPr>
              <a:t>WHO CARES</a:t>
            </a:r>
            <a:endParaRPr lang="en-US" sz="1200" dirty="0"/>
          </a:p>
        </p:txBody>
      </p:sp>
      <p:sp>
        <p:nvSpPr>
          <p:cNvPr id="3" name="Text 1"/>
          <p:cNvSpPr>
            <a:spLocks noGrp="1"/>
          </p:cNvSpPr>
          <p:nvPr>
            <p:ph type="title"/>
          </p:nvPr>
        </p:nvSpPr>
        <p:spPr>
          <a:xfrm>
            <a:off x="812800" y="11785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Four groups decide or pay for reliability</a:t>
            </a:r>
            <a:endParaRPr lang="en-US" sz="3600" dirty="0"/>
          </a:p>
        </p:txBody>
      </p:sp>
      <p:sp>
        <p:nvSpPr>
          <p:cNvPr id="4" name="Shape 2"/>
          <p:cNvSpPr/>
          <p:nvPr/>
        </p:nvSpPr>
        <p:spPr>
          <a:xfrm>
            <a:off x="815975" y="1989386"/>
            <a:ext cx="2482850" cy="2343001"/>
          </a:xfrm>
          <a:prstGeom prst="roundRect">
            <a:avLst>
              <a:gd name="adj" fmla="val 4201"/>
            </a:avLst>
          </a:prstGeom>
          <a:solidFill>
            <a:srgbClr val="FFFFFF"/>
          </a:solidFill>
          <a:ln w="6350">
            <a:solidFill>
              <a:srgbClr val="DCD8CC"/>
            </a:solidFill>
            <a:prstDash val="solid"/>
          </a:ln>
        </p:spPr>
        <p:txBody>
          <a:bodyPr/>
          <a:lstStyle/>
          <a:p>
            <a:endParaRPr lang="en-US"/>
          </a:p>
        </p:txBody>
      </p:sp>
      <p:pic>
        <p:nvPicPr>
          <p:cNvPr id="5" name="Image 0" descr="Verified"/>
          <p:cNvPicPr>
            <a:picLocks noChangeAspect="1"/>
          </p:cNvPicPr>
          <p:nvPr/>
        </p:nvPicPr>
        <p:blipFill>
          <a:blip r:embed="rId3"/>
          <a:srcRect/>
          <a:stretch/>
        </p:blipFill>
        <p:spPr>
          <a:xfrm>
            <a:off x="1073150" y="2246561"/>
            <a:ext cx="355600" cy="355600"/>
          </a:xfrm>
          <a:prstGeom prst="rect">
            <a:avLst/>
          </a:prstGeom>
        </p:spPr>
      </p:pic>
      <p:sp>
        <p:nvSpPr>
          <p:cNvPr id="6" name="Text 3"/>
          <p:cNvSpPr/>
          <p:nvPr/>
        </p:nvSpPr>
        <p:spPr>
          <a:xfrm>
            <a:off x="1073150" y="2703761"/>
            <a:ext cx="202755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Regulators</a:t>
            </a:r>
            <a:endParaRPr lang="en-US" sz="1800" dirty="0"/>
          </a:p>
        </p:txBody>
      </p:sp>
      <p:sp>
        <p:nvSpPr>
          <p:cNvPr id="7" name="Text 4"/>
          <p:cNvSpPr/>
          <p:nvPr/>
        </p:nvSpPr>
        <p:spPr>
          <a:xfrm>
            <a:off x="1073150" y="3079651"/>
            <a:ext cx="2027555"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State commissions approve utility spending and set reliability targets</a:t>
            </a:r>
            <a:endParaRPr lang="en-US" sz="1400" dirty="0"/>
          </a:p>
        </p:txBody>
      </p:sp>
      <p:sp>
        <p:nvSpPr>
          <p:cNvPr id="8" name="Shape 5"/>
          <p:cNvSpPr/>
          <p:nvPr/>
        </p:nvSpPr>
        <p:spPr>
          <a:xfrm>
            <a:off x="3508375" y="1989386"/>
            <a:ext cx="2482850" cy="2343001"/>
          </a:xfrm>
          <a:prstGeom prst="roundRect">
            <a:avLst>
              <a:gd name="adj" fmla="val 4201"/>
            </a:avLst>
          </a:prstGeom>
          <a:solidFill>
            <a:srgbClr val="FFFFFF"/>
          </a:solidFill>
          <a:ln w="6350">
            <a:solidFill>
              <a:srgbClr val="DCD8CC"/>
            </a:solidFill>
            <a:prstDash val="solid"/>
          </a:ln>
        </p:spPr>
        <p:txBody>
          <a:bodyPr/>
          <a:lstStyle/>
          <a:p>
            <a:endParaRPr lang="en-US"/>
          </a:p>
        </p:txBody>
      </p:sp>
      <p:pic>
        <p:nvPicPr>
          <p:cNvPr id="9" name="Image 1" descr="Settings"/>
          <p:cNvPicPr>
            <a:picLocks noChangeAspect="1"/>
          </p:cNvPicPr>
          <p:nvPr/>
        </p:nvPicPr>
        <p:blipFill>
          <a:blip r:embed="rId4"/>
          <a:srcRect/>
          <a:stretch/>
        </p:blipFill>
        <p:spPr>
          <a:xfrm>
            <a:off x="3765550" y="2246561"/>
            <a:ext cx="355600" cy="355600"/>
          </a:xfrm>
          <a:prstGeom prst="rect">
            <a:avLst/>
          </a:prstGeom>
        </p:spPr>
      </p:pic>
      <p:sp>
        <p:nvSpPr>
          <p:cNvPr id="10" name="Text 6"/>
          <p:cNvSpPr/>
          <p:nvPr/>
        </p:nvSpPr>
        <p:spPr>
          <a:xfrm>
            <a:off x="3765550" y="2703761"/>
            <a:ext cx="202755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Executives</a:t>
            </a:r>
            <a:endParaRPr lang="en-US" sz="1800" dirty="0"/>
          </a:p>
        </p:txBody>
      </p:sp>
      <p:sp>
        <p:nvSpPr>
          <p:cNvPr id="11" name="Text 7"/>
          <p:cNvSpPr/>
          <p:nvPr/>
        </p:nvSpPr>
        <p:spPr>
          <a:xfrm>
            <a:off x="3765550" y="3079651"/>
            <a:ext cx="2027555"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Utility leaders choose where capital and maintenance dollars go</a:t>
            </a:r>
            <a:endParaRPr lang="en-US" sz="1400" dirty="0"/>
          </a:p>
        </p:txBody>
      </p:sp>
      <p:sp>
        <p:nvSpPr>
          <p:cNvPr id="12" name="Shape 8"/>
          <p:cNvSpPr/>
          <p:nvPr/>
        </p:nvSpPr>
        <p:spPr>
          <a:xfrm>
            <a:off x="6200775" y="1989386"/>
            <a:ext cx="2482850" cy="2343001"/>
          </a:xfrm>
          <a:prstGeom prst="roundRect">
            <a:avLst>
              <a:gd name="adj" fmla="val 4201"/>
            </a:avLst>
          </a:prstGeom>
          <a:solidFill>
            <a:srgbClr val="FFFFFF"/>
          </a:solidFill>
          <a:ln w="6350">
            <a:solidFill>
              <a:srgbClr val="DCD8CC"/>
            </a:solidFill>
            <a:prstDash val="solid"/>
          </a:ln>
        </p:spPr>
        <p:txBody>
          <a:bodyPr/>
          <a:lstStyle/>
          <a:p>
            <a:endParaRPr lang="en-US"/>
          </a:p>
        </p:txBody>
      </p:sp>
      <p:pic>
        <p:nvPicPr>
          <p:cNvPr id="13" name="Image 2" descr="Chart"/>
          <p:cNvPicPr>
            <a:picLocks noChangeAspect="1"/>
          </p:cNvPicPr>
          <p:nvPr/>
        </p:nvPicPr>
        <p:blipFill>
          <a:blip r:embed="rId5"/>
          <a:srcRect/>
          <a:stretch/>
        </p:blipFill>
        <p:spPr>
          <a:xfrm>
            <a:off x="6457950" y="2246561"/>
            <a:ext cx="355600" cy="355600"/>
          </a:xfrm>
          <a:prstGeom prst="rect">
            <a:avLst/>
          </a:prstGeom>
        </p:spPr>
      </p:pic>
      <p:sp>
        <p:nvSpPr>
          <p:cNvPr id="14" name="Text 9"/>
          <p:cNvSpPr/>
          <p:nvPr/>
        </p:nvSpPr>
        <p:spPr>
          <a:xfrm>
            <a:off x="6457950" y="2703761"/>
            <a:ext cx="202755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Investors</a:t>
            </a:r>
            <a:endParaRPr lang="en-US" sz="1800" dirty="0"/>
          </a:p>
        </p:txBody>
      </p:sp>
      <p:sp>
        <p:nvSpPr>
          <p:cNvPr id="15" name="Text 10"/>
          <p:cNvSpPr/>
          <p:nvPr/>
        </p:nvSpPr>
        <p:spPr>
          <a:xfrm>
            <a:off x="6457950" y="3079651"/>
            <a:ext cx="2027555"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Spending decisions shape a utility’s costs and how regulators treat it</a:t>
            </a:r>
            <a:endParaRPr lang="en-US" sz="1400" dirty="0"/>
          </a:p>
        </p:txBody>
      </p:sp>
      <p:sp>
        <p:nvSpPr>
          <p:cNvPr id="16" name="Shape 11"/>
          <p:cNvSpPr/>
          <p:nvPr/>
        </p:nvSpPr>
        <p:spPr>
          <a:xfrm>
            <a:off x="8893175" y="1989386"/>
            <a:ext cx="2482850" cy="2343001"/>
          </a:xfrm>
          <a:prstGeom prst="roundRect">
            <a:avLst>
              <a:gd name="adj" fmla="val 4201"/>
            </a:avLst>
          </a:prstGeom>
          <a:solidFill>
            <a:srgbClr val="FFFFFF"/>
          </a:solidFill>
          <a:ln w="6350">
            <a:solidFill>
              <a:srgbClr val="DCD8CC"/>
            </a:solidFill>
            <a:prstDash val="solid"/>
          </a:ln>
        </p:spPr>
        <p:txBody>
          <a:bodyPr/>
          <a:lstStyle/>
          <a:p>
            <a:endParaRPr lang="en-US"/>
          </a:p>
        </p:txBody>
      </p:sp>
      <p:pic>
        <p:nvPicPr>
          <p:cNvPr id="17" name="Image 3" descr="Home"/>
          <p:cNvPicPr>
            <a:picLocks noChangeAspect="1"/>
          </p:cNvPicPr>
          <p:nvPr/>
        </p:nvPicPr>
        <p:blipFill>
          <a:blip r:embed="rId6"/>
          <a:srcRect/>
          <a:stretch/>
        </p:blipFill>
        <p:spPr>
          <a:xfrm>
            <a:off x="9150350" y="2246561"/>
            <a:ext cx="355600" cy="355600"/>
          </a:xfrm>
          <a:prstGeom prst="rect">
            <a:avLst/>
          </a:prstGeom>
        </p:spPr>
      </p:pic>
      <p:sp>
        <p:nvSpPr>
          <p:cNvPr id="18" name="Text 12"/>
          <p:cNvSpPr/>
          <p:nvPr/>
        </p:nvSpPr>
        <p:spPr>
          <a:xfrm>
            <a:off x="9150350" y="2703761"/>
            <a:ext cx="202755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Customers</a:t>
            </a:r>
            <a:endParaRPr lang="en-US" sz="1800" dirty="0"/>
          </a:p>
        </p:txBody>
      </p:sp>
      <p:sp>
        <p:nvSpPr>
          <p:cNvPr id="19" name="Text 13"/>
          <p:cNvSpPr/>
          <p:nvPr/>
        </p:nvSpPr>
        <p:spPr>
          <a:xfrm>
            <a:off x="9150350" y="3079651"/>
            <a:ext cx="2027555"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They live with the outages and pay for upgrades through their bills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65F12"/>
                </a:solidFill>
                <a:latin typeface="IBM Plex Sans" pitchFamily="34" charset="0"/>
                <a:ea typeface="IBM Plex Sans" pitchFamily="34" charset="-122"/>
                <a:cs typeface="IBM Plex Sans" pitchFamily="34" charset="-120"/>
              </a:rPr>
              <a:t>DATA</a:t>
            </a:r>
            <a:endParaRPr lang="en-US" sz="1200" dirty="0"/>
          </a:p>
        </p:txBody>
      </p:sp>
      <p:sp>
        <p:nvSpPr>
          <p:cNvPr id="3" name="Text 1"/>
          <p:cNvSpPr>
            <a:spLocks noGrp="1"/>
          </p:cNvSpPr>
          <p:nvPr>
            <p:ph type="title"/>
          </p:nvPr>
        </p:nvSpPr>
        <p:spPr>
          <a:xfrm>
            <a:off x="812800" y="11785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Two federal sources, linked company by company</a:t>
            </a:r>
            <a:endParaRPr lang="en-US" sz="3600" dirty="0"/>
          </a:p>
        </p:txBody>
      </p:sp>
      <p:sp>
        <p:nvSpPr>
          <p:cNvPr id="4" name="Shape 2"/>
          <p:cNvSpPr/>
          <p:nvPr/>
        </p:nvSpPr>
        <p:spPr>
          <a:xfrm>
            <a:off x="815975" y="2901355"/>
            <a:ext cx="3418384" cy="1476970"/>
          </a:xfrm>
          <a:prstGeom prst="roundRect">
            <a:avLst>
              <a:gd name="adj" fmla="val 6664"/>
            </a:avLst>
          </a:prstGeom>
          <a:solidFill>
            <a:srgbClr val="FFFFFF"/>
          </a:solidFill>
          <a:ln w="6350">
            <a:solidFill>
              <a:srgbClr val="DCD8CC"/>
            </a:solidFill>
            <a:prstDash val="solid"/>
          </a:ln>
        </p:spPr>
        <p:txBody>
          <a:bodyPr/>
          <a:lstStyle/>
          <a:p>
            <a:endParaRPr lang="en-US"/>
          </a:p>
        </p:txBody>
      </p:sp>
      <p:sp>
        <p:nvSpPr>
          <p:cNvPr id="5" name="Text 3"/>
          <p:cNvSpPr/>
          <p:nvPr/>
        </p:nvSpPr>
        <p:spPr>
          <a:xfrm>
            <a:off x="1047750" y="3133130"/>
            <a:ext cx="304347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EIA Form 861</a:t>
            </a:r>
            <a:endParaRPr lang="en-US" sz="1600" dirty="0"/>
          </a:p>
        </p:txBody>
      </p:sp>
      <p:sp>
        <p:nvSpPr>
          <p:cNvPr id="6" name="Text 4"/>
          <p:cNvSpPr/>
          <p:nvPr/>
        </p:nvSpPr>
        <p:spPr>
          <a:xfrm>
            <a:off x="1047750" y="3453160"/>
            <a:ext cx="3043479"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6"/>
                </a:solidFill>
                <a:latin typeface="IBM Plex Sans" pitchFamily="34" charset="0"/>
                <a:ea typeface="IBM Plex Sans" pitchFamily="34" charset="-122"/>
                <a:cs typeface="IBM Plex Sans" pitchFamily="34" charset="-120"/>
              </a:rPr>
              <a:t>Outage minutes, customers, smart meters, circuits (per utility, state and year)</a:t>
            </a:r>
            <a:endParaRPr lang="en-US" sz="1300" dirty="0"/>
          </a:p>
        </p:txBody>
      </p:sp>
      <p:sp>
        <p:nvSpPr>
          <p:cNvPr id="7" name="Shape 5"/>
          <p:cNvSpPr/>
          <p:nvPr/>
        </p:nvSpPr>
        <p:spPr>
          <a:xfrm>
            <a:off x="4393109" y="2901355"/>
            <a:ext cx="3418433" cy="1476970"/>
          </a:xfrm>
          <a:prstGeom prst="roundRect">
            <a:avLst>
              <a:gd name="adj" fmla="val 6664"/>
            </a:avLst>
          </a:prstGeom>
          <a:solidFill>
            <a:srgbClr val="FFFFFF"/>
          </a:solidFill>
          <a:ln w="6350">
            <a:solidFill>
              <a:srgbClr val="DCD8CC"/>
            </a:solidFill>
            <a:prstDash val="solid"/>
          </a:ln>
        </p:spPr>
        <p:txBody>
          <a:bodyPr/>
          <a:lstStyle/>
          <a:p>
            <a:endParaRPr lang="en-US"/>
          </a:p>
        </p:txBody>
      </p:sp>
      <p:sp>
        <p:nvSpPr>
          <p:cNvPr id="8" name="Text 6"/>
          <p:cNvSpPr/>
          <p:nvPr/>
        </p:nvSpPr>
        <p:spPr>
          <a:xfrm>
            <a:off x="4624884" y="3133130"/>
            <a:ext cx="304353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FERC Form 1</a:t>
            </a:r>
            <a:endParaRPr lang="en-US" sz="1600" dirty="0"/>
          </a:p>
        </p:txBody>
      </p:sp>
      <p:sp>
        <p:nvSpPr>
          <p:cNvPr id="9" name="Text 7"/>
          <p:cNvSpPr/>
          <p:nvPr/>
        </p:nvSpPr>
        <p:spPr>
          <a:xfrm>
            <a:off x="4624884" y="3453160"/>
            <a:ext cx="3043530"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6"/>
                </a:solidFill>
                <a:latin typeface="IBM Plex Sans" pitchFamily="34" charset="0"/>
                <a:ea typeface="IBM Plex Sans" pitchFamily="34" charset="-122"/>
                <a:cs typeface="IBM Plex Sans" pitchFamily="34" charset="-120"/>
              </a:rPr>
              <a:t>Dollars in overhead and underground lines, line maintenance spending (per company and year)</a:t>
            </a:r>
            <a:endParaRPr lang="en-US" sz="1300" dirty="0"/>
          </a:p>
        </p:txBody>
      </p:sp>
      <p:sp>
        <p:nvSpPr>
          <p:cNvPr id="10" name="Shape 8"/>
          <p:cNvSpPr/>
          <p:nvPr/>
        </p:nvSpPr>
        <p:spPr>
          <a:xfrm>
            <a:off x="7967117" y="2898180"/>
            <a:ext cx="3412083" cy="1483320"/>
          </a:xfrm>
          <a:prstGeom prst="roundRect">
            <a:avLst>
              <a:gd name="adj" fmla="val 6849"/>
            </a:avLst>
          </a:prstGeom>
          <a:solidFill>
            <a:srgbClr val="14213D"/>
          </a:solidFill>
          <a:ln/>
        </p:spPr>
        <p:txBody>
          <a:bodyPr/>
          <a:lstStyle/>
          <a:p>
            <a:endParaRPr lang="en-US"/>
          </a:p>
        </p:txBody>
      </p:sp>
      <p:sp>
        <p:nvSpPr>
          <p:cNvPr id="11" name="Text 9"/>
          <p:cNvSpPr/>
          <p:nvPr/>
        </p:nvSpPr>
        <p:spPr>
          <a:xfrm>
            <a:off x="8195717" y="3126780"/>
            <a:ext cx="304353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PUDL crosswalk</a:t>
            </a:r>
            <a:endParaRPr lang="en-US" sz="1600" dirty="0"/>
          </a:p>
        </p:txBody>
      </p:sp>
      <p:sp>
        <p:nvSpPr>
          <p:cNvPr id="12" name="Text 10"/>
          <p:cNvSpPr/>
          <p:nvPr/>
        </p:nvSpPr>
        <p:spPr>
          <a:xfrm>
            <a:off x="8195717" y="3446810"/>
            <a:ext cx="304353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BM Plex Sans" pitchFamily="34" charset="0"/>
                <a:ea typeface="IBM Plex Sans" pitchFamily="34" charset="-122"/>
                <a:cs typeface="IBM Plex Sans" pitchFamily="34" charset="-120"/>
              </a:rPr>
              <a:t>Matches each company’s FERC ID to its EIA ID so the two sources join</a:t>
            </a:r>
            <a:endParaRPr lang="en-US" sz="1300" dirty="0"/>
          </a:p>
        </p:txBody>
      </p:sp>
      <p:sp>
        <p:nvSpPr>
          <p:cNvPr id="13" name="Shape 11"/>
          <p:cNvSpPr/>
          <p:nvPr/>
        </p:nvSpPr>
        <p:spPr>
          <a:xfrm>
            <a:off x="825500" y="5095329"/>
            <a:ext cx="0" cy="949871"/>
          </a:xfrm>
          <a:prstGeom prst="line">
            <a:avLst/>
          </a:prstGeom>
          <a:noFill/>
          <a:ln w="25400">
            <a:solidFill>
              <a:srgbClr val="B9BCC2"/>
            </a:solidFill>
            <a:prstDash val="solid"/>
          </a:ln>
        </p:spPr>
        <p:txBody>
          <a:bodyPr/>
          <a:lstStyle/>
          <a:p>
            <a:endParaRPr lang="en-US"/>
          </a:p>
        </p:txBody>
      </p:sp>
      <p:sp>
        <p:nvSpPr>
          <p:cNvPr id="14" name="Text 12"/>
          <p:cNvSpPr/>
          <p:nvPr/>
        </p:nvSpPr>
        <p:spPr>
          <a:xfrm>
            <a:off x="990600" y="5095329"/>
            <a:ext cx="2537714"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213D"/>
                </a:solidFill>
                <a:latin typeface="Source Serif 4" pitchFamily="18" charset="0"/>
                <a:ea typeface="Source Serif 4" pitchFamily="18" charset="-122"/>
                <a:cs typeface="Source Serif 4" pitchFamily="18" charset="-120"/>
              </a:rPr>
              <a:t>845</a:t>
            </a:r>
            <a:endParaRPr lang="en-US" sz="2800" dirty="0"/>
          </a:p>
        </p:txBody>
      </p:sp>
      <p:sp>
        <p:nvSpPr>
          <p:cNvPr id="15" name="Text 13"/>
          <p:cNvSpPr/>
          <p:nvPr/>
        </p:nvSpPr>
        <p:spPr>
          <a:xfrm>
            <a:off x="990600" y="5618559"/>
            <a:ext cx="253771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656"/>
                </a:solidFill>
                <a:latin typeface="IBM Plex Sans" pitchFamily="34" charset="0"/>
                <a:ea typeface="IBM Plex Sans" pitchFamily="34" charset="-122"/>
                <a:cs typeface="IBM Plex Sans" pitchFamily="34" charset="-120"/>
              </a:rPr>
              <a:t>investor-owned rows with outage data, 2021–2025</a:t>
            </a:r>
            <a:endParaRPr lang="en-US" sz="1200" dirty="0"/>
          </a:p>
        </p:txBody>
      </p:sp>
      <p:sp>
        <p:nvSpPr>
          <p:cNvPr id="16" name="Shape 14"/>
          <p:cNvSpPr/>
          <p:nvPr/>
        </p:nvSpPr>
        <p:spPr>
          <a:xfrm>
            <a:off x="3467100" y="5095329"/>
            <a:ext cx="0" cy="949871"/>
          </a:xfrm>
          <a:prstGeom prst="line">
            <a:avLst/>
          </a:prstGeom>
          <a:noFill/>
          <a:ln w="25400">
            <a:solidFill>
              <a:srgbClr val="B9BCC2"/>
            </a:solidFill>
            <a:prstDash val="solid"/>
          </a:ln>
        </p:spPr>
        <p:txBody>
          <a:bodyPr/>
          <a:lstStyle/>
          <a:p>
            <a:endParaRPr lang="en-US"/>
          </a:p>
        </p:txBody>
      </p:sp>
      <p:sp>
        <p:nvSpPr>
          <p:cNvPr id="17" name="Text 15"/>
          <p:cNvSpPr/>
          <p:nvPr/>
        </p:nvSpPr>
        <p:spPr>
          <a:xfrm>
            <a:off x="3632200" y="5095329"/>
            <a:ext cx="2537714"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213D"/>
                </a:solidFill>
                <a:latin typeface="Source Serif 4" pitchFamily="18" charset="0"/>
                <a:ea typeface="Source Serif 4" pitchFamily="18" charset="-122"/>
                <a:cs typeface="Source Serif 4" pitchFamily="18" charset="-120"/>
              </a:rPr>
              <a:t>705</a:t>
            </a:r>
            <a:endParaRPr lang="en-US" sz="2800" dirty="0"/>
          </a:p>
        </p:txBody>
      </p:sp>
      <p:sp>
        <p:nvSpPr>
          <p:cNvPr id="18" name="Text 16"/>
          <p:cNvSpPr/>
          <p:nvPr/>
        </p:nvSpPr>
        <p:spPr>
          <a:xfrm>
            <a:off x="3632200" y="5618559"/>
            <a:ext cx="25377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656"/>
                </a:solidFill>
                <a:latin typeface="IBM Plex Sans" pitchFamily="34" charset="0"/>
                <a:ea typeface="IBM Plex Sans" pitchFamily="34" charset="-122"/>
                <a:cs typeface="IBM Plex Sans" pitchFamily="34" charset="-120"/>
              </a:rPr>
              <a:t>IEEE-standard outage measure only</a:t>
            </a:r>
            <a:endParaRPr lang="en-US" sz="1200" dirty="0"/>
          </a:p>
        </p:txBody>
      </p:sp>
      <p:sp>
        <p:nvSpPr>
          <p:cNvPr id="19" name="Shape 17"/>
          <p:cNvSpPr/>
          <p:nvPr/>
        </p:nvSpPr>
        <p:spPr>
          <a:xfrm>
            <a:off x="6108700" y="5095329"/>
            <a:ext cx="0" cy="949871"/>
          </a:xfrm>
          <a:prstGeom prst="line">
            <a:avLst/>
          </a:prstGeom>
          <a:noFill/>
          <a:ln w="25400">
            <a:solidFill>
              <a:srgbClr val="B9BCC2"/>
            </a:solidFill>
            <a:prstDash val="solid"/>
          </a:ln>
        </p:spPr>
        <p:txBody>
          <a:bodyPr/>
          <a:lstStyle/>
          <a:p>
            <a:endParaRPr lang="en-US"/>
          </a:p>
        </p:txBody>
      </p:sp>
      <p:sp>
        <p:nvSpPr>
          <p:cNvPr id="20" name="Text 18"/>
          <p:cNvSpPr/>
          <p:nvPr/>
        </p:nvSpPr>
        <p:spPr>
          <a:xfrm>
            <a:off x="6273800" y="5095329"/>
            <a:ext cx="2537714"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213D"/>
                </a:solidFill>
                <a:latin typeface="Source Serif 4" pitchFamily="18" charset="0"/>
                <a:ea typeface="Source Serif 4" pitchFamily="18" charset="-122"/>
                <a:cs typeface="Source Serif 4" pitchFamily="18" charset="-120"/>
              </a:rPr>
              <a:t>582</a:t>
            </a:r>
            <a:endParaRPr lang="en-US" sz="2800" dirty="0"/>
          </a:p>
        </p:txBody>
      </p:sp>
      <p:sp>
        <p:nvSpPr>
          <p:cNvPr id="21" name="Text 19"/>
          <p:cNvSpPr/>
          <p:nvPr/>
        </p:nvSpPr>
        <p:spPr>
          <a:xfrm>
            <a:off x="6273800" y="5618559"/>
            <a:ext cx="25377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656"/>
                </a:solidFill>
                <a:latin typeface="IBM Plex Sans" pitchFamily="34" charset="0"/>
                <a:ea typeface="IBM Plex Sans" pitchFamily="34" charset="-122"/>
                <a:cs typeface="IBM Plex Sans" pitchFamily="34" charset="-120"/>
              </a:rPr>
              <a:t>utilities that also file with FERC</a:t>
            </a:r>
            <a:endParaRPr lang="en-US" sz="1200" dirty="0"/>
          </a:p>
        </p:txBody>
      </p:sp>
      <p:sp>
        <p:nvSpPr>
          <p:cNvPr id="22" name="Shape 20"/>
          <p:cNvSpPr/>
          <p:nvPr/>
        </p:nvSpPr>
        <p:spPr>
          <a:xfrm>
            <a:off x="8750300" y="5095329"/>
            <a:ext cx="0" cy="949871"/>
          </a:xfrm>
          <a:prstGeom prst="line">
            <a:avLst/>
          </a:prstGeom>
          <a:noFill/>
          <a:ln w="25400">
            <a:solidFill>
              <a:srgbClr val="A65F12"/>
            </a:solidFill>
            <a:prstDash val="solid"/>
          </a:ln>
        </p:spPr>
        <p:txBody>
          <a:bodyPr/>
          <a:lstStyle/>
          <a:p>
            <a:endParaRPr lang="en-US"/>
          </a:p>
        </p:txBody>
      </p:sp>
      <p:sp>
        <p:nvSpPr>
          <p:cNvPr id="23" name="Text 21"/>
          <p:cNvSpPr/>
          <p:nvPr/>
        </p:nvSpPr>
        <p:spPr>
          <a:xfrm>
            <a:off x="8915400" y="5095329"/>
            <a:ext cx="2537714"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65F12"/>
                </a:solidFill>
                <a:latin typeface="Source Serif 4" pitchFamily="18" charset="0"/>
                <a:ea typeface="Source Serif 4" pitchFamily="18" charset="-122"/>
                <a:cs typeface="Source Serif 4" pitchFamily="18" charset="-120"/>
              </a:rPr>
              <a:t>577</a:t>
            </a:r>
            <a:endParaRPr lang="en-US" sz="2800" dirty="0"/>
          </a:p>
        </p:txBody>
      </p:sp>
      <p:sp>
        <p:nvSpPr>
          <p:cNvPr id="24" name="Text 22"/>
          <p:cNvSpPr/>
          <p:nvPr/>
        </p:nvSpPr>
        <p:spPr>
          <a:xfrm>
            <a:off x="8915400" y="5618559"/>
            <a:ext cx="253771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656"/>
                </a:solidFill>
                <a:latin typeface="IBM Plex Sans" pitchFamily="34" charset="0"/>
                <a:ea typeface="IBM Plex Sans" pitchFamily="34" charset="-122"/>
                <a:cs typeface="IBM Plex Sans" pitchFamily="34" charset="-120"/>
              </a:rPr>
              <a:t>final rows, 89 utilities, after removing tiny service areas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65F12"/>
                </a:solidFill>
                <a:latin typeface="IBM Plex Sans" pitchFamily="34" charset="0"/>
                <a:ea typeface="IBM Plex Sans" pitchFamily="34" charset="-122"/>
                <a:cs typeface="IBM Plex Sans" pitchFamily="34" charset="-120"/>
              </a:rPr>
              <a:t>VARIABLES</a:t>
            </a:r>
            <a:endParaRPr lang="en-US" sz="1200" dirty="0"/>
          </a:p>
        </p:txBody>
      </p:sp>
      <p:sp>
        <p:nvSpPr>
          <p:cNvPr id="3" name="Text 1"/>
          <p:cNvSpPr>
            <a:spLocks noGrp="1"/>
          </p:cNvSpPr>
          <p:nvPr>
            <p:ph type="title"/>
          </p:nvPr>
        </p:nvSpPr>
        <p:spPr>
          <a:xfrm>
            <a:off x="812800" y="11785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One outcome, four things a utility can change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8911"/>
          <a:ext cx="10553700" cy="2813846"/>
        </p:xfrm>
        <a:graphic>
          <a:graphicData uri="http://schemas.openxmlformats.org/drawingml/2006/table">
            <a:tbl>
              <a:tblPr/>
              <a:tblGrid>
                <a:gridCol w="2532888">
                  <a:extLst>
                    <a:ext uri="{9D8B030D-6E8A-4147-A177-3AD203B41FA5}">
                      <a16:colId xmlns:a16="http://schemas.microsoft.com/office/drawing/2014/main" val="20000"/>
                    </a:ext>
                  </a:extLst>
                </a:gridCol>
                <a:gridCol w="5487924">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Variable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What it measures</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Source</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63490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SAIDI (outcome)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DBAB2"/>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DBAB2"/>
                      </a:solidFill>
                      <a:prstDash val="solid"/>
                      <a:round/>
                      <a:headEnd type="none" w="med" len="med"/>
                      <a:tailEnd type="none" w="med" len="med"/>
                    </a:lnB>
                    <a:solidFill>
                      <a:srgbClr val="EDE9DF"/>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Outage minutes per customer per year, major event days excluded</a:t>
                      </a:r>
                      <a:endParaRPr lang="en-US" sz="1400" dirty="0">
                        <a:latin typeface="IBM Plex Sans" charset="0"/>
                        <a:ea typeface="IBM Plex Sans" charset="0"/>
                        <a:cs typeface="IBM Plex Sans" charset="0"/>
                      </a:endParaRPr>
                    </a:p>
                  </a:txBody>
                  <a:tcPr marL="62230" marR="62230" marT="62230" marB="62230">
                    <a:lnL w="12700" cap="flat" cmpd="sng" algn="ctr">
                      <a:solidFill>
                        <a:srgbClr val="BDBAB2"/>
                      </a:solidFill>
                      <a:prstDash val="solid"/>
                      <a:round/>
                      <a:headEnd type="none" w="med" len="med"/>
                      <a:tailEnd type="none" w="med" len="med"/>
                    </a:lnL>
                    <a:lnR w="12700" cap="flat" cmpd="sng" algn="ctr">
                      <a:solidFill>
                        <a:srgbClr val="BDBAB2"/>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DBAB2"/>
                      </a:solidFill>
                      <a:prstDash val="solid"/>
                      <a:round/>
                      <a:headEnd type="none" w="med" len="med"/>
                      <a:tailEnd type="none" w="med" len="med"/>
                    </a:lnB>
                    <a:solidFill>
                      <a:srgbClr val="EDE9DF"/>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EIA reliability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BDBAB2"/>
                      </a:solidFill>
                      <a:prstDash val="solid"/>
                      <a:round/>
                      <a:headEnd type="none" w="med" len="med"/>
                      <a:tailEnd type="none" w="med" len="med"/>
                    </a:lnL>
                    <a:lnR w="12700" cap="flat" cmpd="sng" algn="ctr">
                      <a:solidFill>
                        <a:srgbClr val="BDBAB2"/>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DBAB2"/>
                      </a:solidFill>
                      <a:prstDash val="solid"/>
                      <a:round/>
                      <a:headEnd type="none" w="med" len="med"/>
                      <a:tailEnd type="none" w="med" len="med"/>
                    </a:lnB>
                    <a:solidFill>
                      <a:srgbClr val="EDE9DF"/>
                    </a:solidFill>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Underground share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AB2"/>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Underground line dollars ÷ all line dollars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AB2"/>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FERC plant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AB2"/>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63490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Maintenance per customer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Overhead + underground line maintenance $ ÷ company customers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FERC expenses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Smart meter share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Smart (AMI) meters ÷ all meters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EIA meters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Customers per circuit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Customers ÷ distribution circuits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EIA circuits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65F12"/>
                </a:solidFill>
                <a:latin typeface="IBM Plex Sans" pitchFamily="34" charset="0"/>
                <a:ea typeface="IBM Plex Sans" pitchFamily="34" charset="-122"/>
                <a:cs typeface="IBM Plex Sans" pitchFamily="34" charset="-120"/>
              </a:rPr>
              <a:t>METHOD</a:t>
            </a:r>
            <a:endParaRPr lang="en-US" sz="1200" dirty="0"/>
          </a:p>
        </p:txBody>
      </p:sp>
      <p:sp>
        <p:nvSpPr>
          <p:cNvPr id="3" name="Text 1"/>
          <p:cNvSpPr>
            <a:spLocks noGrp="1"/>
          </p:cNvSpPr>
          <p:nvPr>
            <p:ph type="title"/>
          </p:nvPr>
        </p:nvSpPr>
        <p:spPr>
          <a:xfrm>
            <a:off x="812800" y="11785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Clean, merge, then regress</a:t>
            </a:r>
            <a:endParaRPr lang="en-US" sz="3600" dirty="0"/>
          </a:p>
        </p:txBody>
      </p:sp>
      <p:sp>
        <p:nvSpPr>
          <p:cNvPr id="4" name="Shape 2"/>
          <p:cNvSpPr/>
          <p:nvPr/>
        </p:nvSpPr>
        <p:spPr>
          <a:xfrm>
            <a:off x="812800" y="1998911"/>
            <a:ext cx="2489200" cy="0"/>
          </a:xfrm>
          <a:prstGeom prst="line">
            <a:avLst/>
          </a:prstGeom>
          <a:noFill/>
          <a:ln w="25400">
            <a:solidFill>
              <a:srgbClr val="14213D"/>
            </a:solidFill>
            <a:prstDash val="solid"/>
          </a:ln>
        </p:spPr>
        <p:txBody>
          <a:bodyPr/>
          <a:lstStyle/>
          <a:p>
            <a:endParaRPr lang="en-US"/>
          </a:p>
        </p:txBody>
      </p:sp>
      <p:sp>
        <p:nvSpPr>
          <p:cNvPr id="5" name="Text 3"/>
          <p:cNvSpPr/>
          <p:nvPr/>
        </p:nvSpPr>
        <p:spPr>
          <a:xfrm>
            <a:off x="812800" y="2214811"/>
            <a:ext cx="2563876"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65F12"/>
                </a:solidFill>
                <a:latin typeface="Source Serif 4" pitchFamily="18" charset="0"/>
                <a:ea typeface="Source Serif 4" pitchFamily="18" charset="-122"/>
                <a:cs typeface="Source Serif 4" pitchFamily="18" charset="-120"/>
              </a:rPr>
              <a:t>1</a:t>
            </a:r>
            <a:endParaRPr lang="en-US" sz="2800" dirty="0"/>
          </a:p>
        </p:txBody>
      </p:sp>
      <p:sp>
        <p:nvSpPr>
          <p:cNvPr id="6" name="Text 4"/>
          <p:cNvSpPr/>
          <p:nvPr/>
        </p:nvSpPr>
        <p:spPr>
          <a:xfrm>
            <a:off x="812800" y="2814241"/>
            <a:ext cx="256387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Build</a:t>
            </a:r>
            <a:endParaRPr lang="en-US" sz="1800" dirty="0"/>
          </a:p>
        </p:txBody>
      </p:sp>
      <p:sp>
        <p:nvSpPr>
          <p:cNvPr id="7" name="Text 5"/>
          <p:cNvSpPr/>
          <p:nvPr/>
        </p:nvSpPr>
        <p:spPr>
          <a:xfrm>
            <a:off x="812800" y="3190131"/>
            <a:ext cx="2563876"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pandas: filter, group, pivot and merge 6 files into one table of ratios</a:t>
            </a:r>
            <a:endParaRPr lang="en-US" sz="1400" dirty="0"/>
          </a:p>
        </p:txBody>
      </p:sp>
      <p:sp>
        <p:nvSpPr>
          <p:cNvPr id="8" name="Shape 6"/>
          <p:cNvSpPr/>
          <p:nvPr/>
        </p:nvSpPr>
        <p:spPr>
          <a:xfrm>
            <a:off x="3505200" y="1998911"/>
            <a:ext cx="2489200" cy="0"/>
          </a:xfrm>
          <a:prstGeom prst="line">
            <a:avLst/>
          </a:prstGeom>
          <a:noFill/>
          <a:ln w="25400">
            <a:solidFill>
              <a:srgbClr val="14213D"/>
            </a:solidFill>
            <a:prstDash val="solid"/>
          </a:ln>
        </p:spPr>
        <p:txBody>
          <a:bodyPr/>
          <a:lstStyle/>
          <a:p>
            <a:endParaRPr lang="en-US"/>
          </a:p>
        </p:txBody>
      </p:sp>
      <p:sp>
        <p:nvSpPr>
          <p:cNvPr id="9" name="Text 7"/>
          <p:cNvSpPr/>
          <p:nvPr/>
        </p:nvSpPr>
        <p:spPr>
          <a:xfrm>
            <a:off x="3505200" y="2214811"/>
            <a:ext cx="2563876"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65F12"/>
                </a:solidFill>
                <a:latin typeface="Source Serif 4" pitchFamily="18" charset="0"/>
                <a:ea typeface="Source Serif 4" pitchFamily="18" charset="-122"/>
                <a:cs typeface="Source Serif 4" pitchFamily="18" charset="-120"/>
              </a:rPr>
              <a:t>2</a:t>
            </a:r>
            <a:endParaRPr lang="en-US" sz="2800" dirty="0"/>
          </a:p>
        </p:txBody>
      </p:sp>
      <p:sp>
        <p:nvSpPr>
          <p:cNvPr id="10" name="Text 8"/>
          <p:cNvSpPr/>
          <p:nvPr/>
        </p:nvSpPr>
        <p:spPr>
          <a:xfrm>
            <a:off x="3505200" y="2814241"/>
            <a:ext cx="256387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Model</a:t>
            </a:r>
            <a:endParaRPr lang="en-US" sz="1800" dirty="0"/>
          </a:p>
        </p:txBody>
      </p:sp>
      <p:sp>
        <p:nvSpPr>
          <p:cNvPr id="11" name="Text 9"/>
          <p:cNvSpPr/>
          <p:nvPr/>
        </p:nvSpPr>
        <p:spPr>
          <a:xfrm>
            <a:off x="3505200" y="3190131"/>
            <a:ext cx="2563876"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statsmodels OLS: underground share alone, then all four variables</a:t>
            </a:r>
            <a:endParaRPr lang="en-US" sz="1400" dirty="0"/>
          </a:p>
        </p:txBody>
      </p:sp>
      <p:sp>
        <p:nvSpPr>
          <p:cNvPr id="12" name="Shape 10"/>
          <p:cNvSpPr/>
          <p:nvPr/>
        </p:nvSpPr>
        <p:spPr>
          <a:xfrm>
            <a:off x="6197600" y="1998911"/>
            <a:ext cx="2489200" cy="0"/>
          </a:xfrm>
          <a:prstGeom prst="line">
            <a:avLst/>
          </a:prstGeom>
          <a:noFill/>
          <a:ln w="25400">
            <a:solidFill>
              <a:srgbClr val="14213D"/>
            </a:solidFill>
            <a:prstDash val="solid"/>
          </a:ln>
        </p:spPr>
        <p:txBody>
          <a:bodyPr/>
          <a:lstStyle/>
          <a:p>
            <a:endParaRPr lang="en-US"/>
          </a:p>
        </p:txBody>
      </p:sp>
      <p:sp>
        <p:nvSpPr>
          <p:cNvPr id="13" name="Text 11"/>
          <p:cNvSpPr/>
          <p:nvPr/>
        </p:nvSpPr>
        <p:spPr>
          <a:xfrm>
            <a:off x="6197600" y="2214811"/>
            <a:ext cx="2563876"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65F12"/>
                </a:solidFill>
                <a:latin typeface="Source Serif 4" pitchFamily="18" charset="0"/>
                <a:ea typeface="Source Serif 4" pitchFamily="18" charset="-122"/>
                <a:cs typeface="Source Serif 4" pitchFamily="18" charset="-120"/>
              </a:rPr>
              <a:t>3</a:t>
            </a:r>
            <a:endParaRPr lang="en-US" sz="2800" dirty="0"/>
          </a:p>
        </p:txBody>
      </p:sp>
      <p:sp>
        <p:nvSpPr>
          <p:cNvPr id="14" name="Text 12"/>
          <p:cNvSpPr/>
          <p:nvPr/>
        </p:nvSpPr>
        <p:spPr>
          <a:xfrm>
            <a:off x="6197600" y="2814241"/>
            <a:ext cx="256387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Adjust</a:t>
            </a:r>
            <a:endParaRPr lang="en-US" sz="1800" dirty="0"/>
          </a:p>
        </p:txBody>
      </p:sp>
      <p:sp>
        <p:nvSpPr>
          <p:cNvPr id="15" name="Text 13"/>
          <p:cNvSpPr/>
          <p:nvPr/>
        </p:nvSpPr>
        <p:spPr>
          <a:xfrm>
            <a:off x="6197600" y="3190131"/>
            <a:ext cx="2563876"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Standard errors clustered by utility, since FERC values repeat across a company’s states</a:t>
            </a:r>
            <a:endParaRPr lang="en-US" sz="1400" dirty="0"/>
          </a:p>
        </p:txBody>
      </p:sp>
      <p:sp>
        <p:nvSpPr>
          <p:cNvPr id="16" name="Shape 14"/>
          <p:cNvSpPr/>
          <p:nvPr/>
        </p:nvSpPr>
        <p:spPr>
          <a:xfrm>
            <a:off x="8890000" y="1998911"/>
            <a:ext cx="2489200" cy="0"/>
          </a:xfrm>
          <a:prstGeom prst="line">
            <a:avLst/>
          </a:prstGeom>
          <a:noFill/>
          <a:ln w="25400">
            <a:solidFill>
              <a:srgbClr val="14213D"/>
            </a:solidFill>
            <a:prstDash val="solid"/>
          </a:ln>
        </p:spPr>
        <p:txBody>
          <a:bodyPr/>
          <a:lstStyle/>
          <a:p>
            <a:endParaRPr lang="en-US"/>
          </a:p>
        </p:txBody>
      </p:sp>
      <p:sp>
        <p:nvSpPr>
          <p:cNvPr id="17" name="Text 15"/>
          <p:cNvSpPr/>
          <p:nvPr/>
        </p:nvSpPr>
        <p:spPr>
          <a:xfrm>
            <a:off x="8890000" y="2214811"/>
            <a:ext cx="2563876"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65F12"/>
                </a:solidFill>
                <a:latin typeface="Source Serif 4" pitchFamily="18" charset="0"/>
                <a:ea typeface="Source Serif 4" pitchFamily="18" charset="-122"/>
                <a:cs typeface="Source Serif 4" pitchFamily="18" charset="-120"/>
              </a:rPr>
              <a:t>4</a:t>
            </a:r>
            <a:endParaRPr lang="en-US" sz="2800" dirty="0"/>
          </a:p>
        </p:txBody>
      </p:sp>
      <p:sp>
        <p:nvSpPr>
          <p:cNvPr id="18" name="Text 16"/>
          <p:cNvSpPr/>
          <p:nvPr/>
        </p:nvSpPr>
        <p:spPr>
          <a:xfrm>
            <a:off x="8890000" y="2814241"/>
            <a:ext cx="256387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Stress-test</a:t>
            </a:r>
            <a:endParaRPr lang="en-US" sz="1800" dirty="0"/>
          </a:p>
        </p:txBody>
      </p:sp>
      <p:sp>
        <p:nvSpPr>
          <p:cNvPr id="19" name="Text 17"/>
          <p:cNvSpPr/>
          <p:nvPr/>
        </p:nvSpPr>
        <p:spPr>
          <a:xfrm>
            <a:off x="8890000" y="3190131"/>
            <a:ext cx="2563876"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Rerun with major event days included, then predict gains for the worst performers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More underground lines, fewer outage minutes</a:t>
            </a:r>
            <a:endParaRPr lang="en-US" sz="3200" dirty="0"/>
          </a:p>
        </p:txBody>
      </p:sp>
      <p:pic>
        <p:nvPicPr>
          <p:cNvPr id="3" name="Image 0" descr="Scatter plot of outage minutes against underground share for 577 utility-state-years, with a downward-sloping fitted line"/>
          <p:cNvPicPr>
            <a:picLocks noChangeAspect="1"/>
          </p:cNvPicPr>
          <p:nvPr/>
        </p:nvPicPr>
        <p:blipFill>
          <a:blip r:embed="rId3"/>
          <a:srcRect t="-40" b="-40"/>
          <a:stretch/>
        </p:blipFill>
        <p:spPr>
          <a:xfrm>
            <a:off x="812800" y="1463030"/>
            <a:ext cx="6413500" cy="4318000"/>
          </a:xfrm>
          <a:prstGeom prst="rect">
            <a:avLst/>
          </a:prstGeom>
        </p:spPr>
      </p:pic>
      <p:sp>
        <p:nvSpPr>
          <p:cNvPr id="4" name="Text 1"/>
          <p:cNvSpPr/>
          <p:nvPr/>
        </p:nvSpPr>
        <p:spPr>
          <a:xfrm>
            <a:off x="7581900" y="2420045"/>
            <a:ext cx="3911219"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A65F12"/>
                </a:solidFill>
                <a:latin typeface="Source Serif 4" pitchFamily="18" charset="0"/>
                <a:ea typeface="Source Serif 4" pitchFamily="18" charset="-122"/>
                <a:cs typeface="Source Serif 4" pitchFamily="18" charset="-120"/>
              </a:rPr>
              <a:t>−29 min</a:t>
            </a:r>
            <a:endParaRPr lang="en-US" sz="4800" dirty="0"/>
          </a:p>
        </p:txBody>
      </p:sp>
      <p:sp>
        <p:nvSpPr>
          <p:cNvPr id="5" name="Text 2"/>
          <p:cNvSpPr/>
          <p:nvPr/>
        </p:nvSpPr>
        <p:spPr>
          <a:xfrm>
            <a:off x="7581900" y="3080445"/>
            <a:ext cx="3911219"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per customer per year for each +10 percentage points underground</a:t>
            </a:r>
            <a:endParaRPr lang="en-US" sz="1400" dirty="0"/>
          </a:p>
        </p:txBody>
      </p:sp>
      <p:sp>
        <p:nvSpPr>
          <p:cNvPr id="6" name="Shape 3"/>
          <p:cNvSpPr/>
          <p:nvPr/>
        </p:nvSpPr>
        <p:spPr>
          <a:xfrm>
            <a:off x="7581900" y="3835400"/>
            <a:ext cx="3797300" cy="0"/>
          </a:xfrm>
          <a:prstGeom prst="line">
            <a:avLst/>
          </a:prstGeom>
          <a:noFill/>
          <a:ln w="6350">
            <a:solidFill>
              <a:srgbClr val="DCD8CC"/>
            </a:solidFill>
            <a:prstDash val="solid"/>
          </a:ln>
        </p:spPr>
        <p:txBody>
          <a:bodyPr/>
          <a:lstStyle/>
          <a:p>
            <a:endParaRPr lang="en-US"/>
          </a:p>
        </p:txBody>
      </p:sp>
      <p:sp>
        <p:nvSpPr>
          <p:cNvPr id="7" name="Text 4"/>
          <p:cNvSpPr/>
          <p:nvPr/>
        </p:nvSpPr>
        <p:spPr>
          <a:xfrm>
            <a:off x="7581900" y="3990975"/>
            <a:ext cx="3911219"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R² = 0.17 · p &lt; 0.001</a:t>
            </a:r>
            <a:endParaRPr lang="en-US" sz="1600" dirty="0"/>
          </a:p>
        </p:txBody>
      </p:sp>
      <p:sp>
        <p:nvSpPr>
          <p:cNvPr id="8" name="Text 5"/>
          <p:cNvSpPr/>
          <p:nvPr/>
        </p:nvSpPr>
        <p:spPr>
          <a:xfrm>
            <a:off x="7581900" y="4326235"/>
            <a:ext cx="3911219"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Underground share alone explains 17% of the differences</a:t>
            </a:r>
            <a:endParaRPr lang="en-US" sz="14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4"/>
                </a:solidFill>
                <a:latin typeface="IBM Plex Sans" pitchFamily="34" charset="0"/>
                <a:ea typeface="IBM Plex Sans" pitchFamily="34" charset="-122"/>
                <a:cs typeface="IBM Plex Sans" pitchFamily="34" charset="-120"/>
              </a:rPr>
              <a:t>Regression 1 · 577 utility-state-years, 2021–2025 · standard errors clustered by utility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65F12"/>
                </a:solidFill>
                <a:latin typeface="IBM Plex Sans" pitchFamily="34" charset="0"/>
                <a:ea typeface="IBM Plex Sans" pitchFamily="34" charset="-122"/>
                <a:cs typeface="IBM Plex Sans" pitchFamily="34" charset="-120"/>
              </a:rPr>
              <a:t>ALL FOUR VARIABLES TOGETHER</a:t>
            </a:r>
            <a:endParaRPr lang="en-US" sz="1200" dirty="0"/>
          </a:p>
        </p:txBody>
      </p:sp>
      <p:sp>
        <p:nvSpPr>
          <p:cNvPr id="3" name="Text 1"/>
          <p:cNvSpPr>
            <a:spLocks noGrp="1"/>
          </p:cNvSpPr>
          <p:nvPr>
            <p:ph type="title"/>
          </p:nvPr>
        </p:nvSpPr>
        <p:spPr>
          <a:xfrm>
            <a:off x="812800" y="11785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Underground share holds up; smart meters and circuits don’t matter</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501801"/>
          <a:ext cx="10553700" cy="1930055"/>
        </p:xfrm>
        <a:graphic>
          <a:graphicData uri="http://schemas.openxmlformats.org/drawingml/2006/table">
            <a:tbl>
              <a:tblPr/>
              <a:tblGrid>
                <a:gridCol w="3377184">
                  <a:extLst>
                    <a:ext uri="{9D8B030D-6E8A-4147-A177-3AD203B41FA5}">
                      <a16:colId xmlns:a16="http://schemas.microsoft.com/office/drawing/2014/main" val="20000"/>
                    </a:ext>
                  </a:extLst>
                </a:gridCol>
                <a:gridCol w="3588258">
                  <a:extLst>
                    <a:ext uri="{9D8B030D-6E8A-4147-A177-3AD203B41FA5}">
                      <a16:colId xmlns:a16="http://schemas.microsoft.com/office/drawing/2014/main" val="20001"/>
                    </a:ext>
                  </a:extLst>
                </a:gridCol>
                <a:gridCol w="1477518">
                  <a:extLst>
                    <a:ext uri="{9D8B030D-6E8A-4147-A177-3AD203B41FA5}">
                      <a16:colId xmlns:a16="http://schemas.microsoft.com/office/drawing/2014/main" val="20002"/>
                    </a:ext>
                  </a:extLst>
                </a:gridCol>
                <a:gridCol w="2110740">
                  <a:extLst>
                    <a:ext uri="{9D8B030D-6E8A-4147-A177-3AD203B41FA5}">
                      <a16:colId xmlns:a16="http://schemas.microsoft.com/office/drawing/2014/main" val="20003"/>
                    </a:ext>
                  </a:extLst>
                </a:gridCol>
              </a:tblGrid>
              <a:tr h="386011">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Variable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Effect on outage minutes</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p-value</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Significant</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Underground share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DBAB2"/>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DBAB2"/>
                      </a:solidFill>
                      <a:prstDash val="solid"/>
                      <a:round/>
                      <a:headEnd type="none" w="med" len="med"/>
                      <a:tailEnd type="none" w="med" len="med"/>
                    </a:lnB>
                    <a:solidFill>
                      <a:srgbClr val="EDE9DF"/>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−22 per +10 points</a:t>
                      </a:r>
                      <a:endParaRPr lang="en-US" sz="1400" dirty="0">
                        <a:latin typeface="IBM Plex Sans" charset="0"/>
                        <a:ea typeface="IBM Plex Sans" charset="0"/>
                        <a:cs typeface="IBM Plex Sans" charset="0"/>
                      </a:endParaRPr>
                    </a:p>
                  </a:txBody>
                  <a:tcPr marL="62230" marR="62230" marT="62230" marB="62230">
                    <a:lnL w="12700" cap="flat" cmpd="sng" algn="ctr">
                      <a:solidFill>
                        <a:srgbClr val="BDBAB2"/>
                      </a:solidFill>
                      <a:prstDash val="solid"/>
                      <a:round/>
                      <a:headEnd type="none" w="med" len="med"/>
                      <a:tailEnd type="none" w="med" len="med"/>
                    </a:lnL>
                    <a:lnR w="12700" cap="flat" cmpd="sng" algn="ctr">
                      <a:solidFill>
                        <a:srgbClr val="BDBAB2"/>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DBAB2"/>
                      </a:solidFill>
                      <a:prstDash val="solid"/>
                      <a:round/>
                      <a:headEnd type="none" w="med" len="med"/>
                      <a:tailEnd type="none" w="med" len="med"/>
                    </a:lnB>
                    <a:solidFill>
                      <a:srgbClr val="EDE9DF"/>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0.001</a:t>
                      </a:r>
                      <a:endParaRPr lang="en-US" sz="1400" dirty="0">
                        <a:latin typeface="IBM Plex Sans" charset="0"/>
                        <a:ea typeface="IBM Plex Sans" charset="0"/>
                        <a:cs typeface="IBM Plex Sans" charset="0"/>
                      </a:endParaRPr>
                    </a:p>
                  </a:txBody>
                  <a:tcPr marL="62230" marR="62230" marT="62230" marB="62230">
                    <a:lnL w="12700" cap="flat" cmpd="sng" algn="ctr">
                      <a:solidFill>
                        <a:srgbClr val="BDBAB2"/>
                      </a:solidFill>
                      <a:prstDash val="solid"/>
                      <a:round/>
                      <a:headEnd type="none" w="med" len="med"/>
                      <a:tailEnd type="none" w="med" len="med"/>
                    </a:lnL>
                    <a:lnR w="12700" cap="flat" cmpd="sng" algn="ctr">
                      <a:solidFill>
                        <a:srgbClr val="BDBAB2"/>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DBAB2"/>
                      </a:solidFill>
                      <a:prstDash val="solid"/>
                      <a:round/>
                      <a:headEnd type="none" w="med" len="med"/>
                      <a:tailEnd type="none" w="med" len="med"/>
                    </a:lnB>
                    <a:solidFill>
                      <a:srgbClr val="EDE9DF"/>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lnL w="12700" cap="flat" cmpd="sng" algn="ctr">
                      <a:solidFill>
                        <a:srgbClr val="BDBAB2"/>
                      </a:solidFill>
                      <a:prstDash val="solid"/>
                      <a:round/>
                      <a:headEnd type="none" w="med" len="med"/>
                      <a:tailEnd type="none" w="med" len="med"/>
                    </a:lnL>
                    <a:lnR w="12700" cap="flat" cmpd="sng" algn="ctr">
                      <a:solidFill>
                        <a:srgbClr val="BDBAB2"/>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DBAB2"/>
                      </a:solidFill>
                      <a:prstDash val="solid"/>
                      <a:round/>
                      <a:headEnd type="none" w="med" len="med"/>
                      <a:tailEnd type="none" w="med" len="med"/>
                    </a:lnB>
                    <a:solidFill>
                      <a:srgbClr val="EDE9DF"/>
                    </a:solidFill>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Maintenance per customer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AB2"/>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+6.5 per +$10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AB2"/>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0.03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AB2"/>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AB2"/>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Smart meter share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−0.4 per +10 points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0.82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Customers per circuit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 per +100 customers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0.59</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736654"/>
            <a:ext cx="981075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656"/>
                </a:solidFill>
                <a:latin typeface="IBM Plex Sans" pitchFamily="34" charset="0"/>
                <a:ea typeface="IBM Plex Sans" pitchFamily="34" charset="-122"/>
                <a:cs typeface="IBM Plex Sans" pitchFamily="34" charset="-120"/>
              </a:rPr>
              <a:t>More maintenance goes with </a:t>
            </a:r>
            <a:r>
              <a:rPr lang="en-US" sz="1600" b="1" dirty="0">
                <a:solidFill>
                  <a:srgbClr val="3D4656"/>
                </a:solidFill>
                <a:latin typeface="IBM Plex Sans" pitchFamily="34" charset="0"/>
                <a:ea typeface="IBM Plex Sans" pitchFamily="34" charset="-122"/>
                <a:cs typeface="IBM Plex Sans" pitchFamily="34" charset="-120"/>
              </a:rPr>
              <a:t>more</a:t>
            </a:r>
            <a:r>
              <a:rPr lang="en-US" sz="1600" dirty="0">
                <a:solidFill>
                  <a:srgbClr val="3D4656"/>
                </a:solidFill>
                <a:latin typeface="IBM Plex Sans" pitchFamily="34" charset="0"/>
                <a:ea typeface="IBM Plex Sans" pitchFamily="34" charset="-122"/>
                <a:cs typeface="IBM Plex Sans" pitchFamily="34" charset="-120"/>
              </a:rPr>
              <a:t> outages, most likely reverse causality: utilities with bad outages spend more on repairs.</a:t>
            </a:r>
            <a:endParaRPr lang="en-US" sz="16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4"/>
                </a:solidFill>
                <a:latin typeface="IBM Plex Sans" pitchFamily="34" charset="0"/>
                <a:ea typeface="IBM Plex Sans" pitchFamily="34" charset="-122"/>
                <a:cs typeface="IBM Plex Sans" pitchFamily="34" charset="-120"/>
              </a:rPr>
              <a:t>Regression 2 · R² = 0.28 · 577 rows · standard errors clustered by utility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THE TWIST</a:t>
            </a:r>
            <a:endParaRPr lang="en-US" sz="1200" dirty="0"/>
          </a:p>
        </p:txBody>
      </p:sp>
      <p:sp>
        <p:nvSpPr>
          <p:cNvPr id="3" name="Text 1"/>
          <p:cNvSpPr>
            <a:spLocks noGrp="1"/>
          </p:cNvSpPr>
          <p:nvPr>
            <p:ph type="title"/>
          </p:nvPr>
        </p:nvSpPr>
        <p:spPr>
          <a:xfrm>
            <a:off x="812800" y="1178520"/>
            <a:ext cx="9810750" cy="11430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F6F4EE"/>
                </a:solidFill>
                <a:latin typeface="Source Serif 4" pitchFamily="18" charset="0"/>
                <a:ea typeface="Source Serif 4" pitchFamily="18" charset="-122"/>
                <a:cs typeface="Source Serif 4" pitchFamily="18" charset="-120"/>
              </a:rPr>
              <a:t>On disaster days, underground lines matter four times more</a:t>
            </a:r>
            <a:endParaRPr lang="en-US" sz="4000" dirty="0"/>
          </a:p>
        </p:txBody>
      </p:sp>
      <p:sp>
        <p:nvSpPr>
          <p:cNvPr id="4" name="Shape 2"/>
          <p:cNvSpPr/>
          <p:nvPr/>
        </p:nvSpPr>
        <p:spPr>
          <a:xfrm>
            <a:off x="812800" y="2880370"/>
            <a:ext cx="5080000" cy="0"/>
          </a:xfrm>
          <a:prstGeom prst="line">
            <a:avLst/>
          </a:prstGeom>
          <a:noFill/>
          <a:ln w="25400">
            <a:solidFill>
              <a:srgbClr val="5B6B8A"/>
            </a:solidFill>
            <a:prstDash val="solid"/>
          </a:ln>
        </p:spPr>
        <p:txBody>
          <a:bodyPr/>
          <a:lstStyle/>
          <a:p>
            <a:endParaRPr lang="en-US"/>
          </a:p>
        </p:txBody>
      </p:sp>
      <p:sp>
        <p:nvSpPr>
          <p:cNvPr id="5" name="Text 3"/>
          <p:cNvSpPr/>
          <p:nvPr/>
        </p:nvSpPr>
        <p:spPr>
          <a:xfrm>
            <a:off x="812800" y="3096270"/>
            <a:ext cx="5232400" cy="914400"/>
          </a:xfrm>
          <a:prstGeom prst="rect">
            <a:avLst/>
          </a:prstGeom>
          <a:noFill/>
          <a:ln/>
        </p:spPr>
        <p:txBody>
          <a:bodyPr wrap="square" lIns="0" tIns="0" rIns="0" bIns="0" rtlCol="0" anchor="t">
            <a:normAutofit/>
          </a:bodyPr>
          <a:lstStyle/>
          <a:p>
            <a:pPr marL="0" indent="0" algn="l">
              <a:lnSpc>
                <a:spcPts val="7000"/>
              </a:lnSpc>
              <a:buNone/>
            </a:pPr>
            <a:r>
              <a:rPr lang="en-US" sz="7000" b="1" dirty="0">
                <a:solidFill>
                  <a:srgbClr val="C9D3E3"/>
                </a:solidFill>
                <a:latin typeface="Source Serif 4" pitchFamily="18" charset="0"/>
                <a:ea typeface="Source Serif 4" pitchFamily="18" charset="-122"/>
                <a:cs typeface="Source Serif 4" pitchFamily="18" charset="-120"/>
              </a:rPr>
              <a:t>−22</a:t>
            </a:r>
            <a:endParaRPr lang="en-US" sz="7000" dirty="0"/>
          </a:p>
        </p:txBody>
      </p:sp>
      <p:sp>
        <p:nvSpPr>
          <p:cNvPr id="6" name="Text 4"/>
          <p:cNvSpPr/>
          <p:nvPr/>
        </p:nvSpPr>
        <p:spPr>
          <a:xfrm>
            <a:off x="812800" y="4061470"/>
            <a:ext cx="52324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IBM Plex Sans" pitchFamily="34" charset="0"/>
                <a:ea typeface="IBM Plex Sans" pitchFamily="34" charset="-122"/>
                <a:cs typeface="IBM Plex Sans" pitchFamily="34" charset="-120"/>
              </a:rPr>
              <a:t>minutes per +10 points underground, normal days</a:t>
            </a:r>
            <a:endParaRPr lang="en-US" sz="1600" dirty="0"/>
          </a:p>
        </p:txBody>
      </p:sp>
      <p:sp>
        <p:nvSpPr>
          <p:cNvPr id="7" name="Shape 5"/>
          <p:cNvSpPr/>
          <p:nvPr/>
        </p:nvSpPr>
        <p:spPr>
          <a:xfrm>
            <a:off x="6299200" y="2880370"/>
            <a:ext cx="5080000" cy="0"/>
          </a:xfrm>
          <a:prstGeom prst="line">
            <a:avLst/>
          </a:prstGeom>
          <a:noFill/>
          <a:ln w="25400">
            <a:solidFill>
              <a:srgbClr val="E8A33D"/>
            </a:solidFill>
            <a:prstDash val="solid"/>
          </a:ln>
        </p:spPr>
        <p:txBody>
          <a:bodyPr/>
          <a:lstStyle/>
          <a:p>
            <a:endParaRPr lang="en-US"/>
          </a:p>
        </p:txBody>
      </p:sp>
      <p:sp>
        <p:nvSpPr>
          <p:cNvPr id="8" name="Text 6"/>
          <p:cNvSpPr/>
          <p:nvPr/>
        </p:nvSpPr>
        <p:spPr>
          <a:xfrm>
            <a:off x="6299200" y="3096270"/>
            <a:ext cx="5232400" cy="914400"/>
          </a:xfrm>
          <a:prstGeom prst="rect">
            <a:avLst/>
          </a:prstGeom>
          <a:noFill/>
          <a:ln/>
        </p:spPr>
        <p:txBody>
          <a:bodyPr wrap="square" lIns="0" tIns="0" rIns="0" bIns="0" rtlCol="0" anchor="t">
            <a:normAutofit/>
          </a:bodyPr>
          <a:lstStyle/>
          <a:p>
            <a:pPr marL="0" indent="0" algn="l">
              <a:lnSpc>
                <a:spcPts val="7000"/>
              </a:lnSpc>
              <a:buNone/>
            </a:pPr>
            <a:r>
              <a:rPr lang="en-US" sz="7000" b="1" dirty="0">
                <a:solidFill>
                  <a:srgbClr val="E8A33D"/>
                </a:solidFill>
                <a:latin typeface="Source Serif 4" pitchFamily="18" charset="0"/>
                <a:ea typeface="Source Serif 4" pitchFamily="18" charset="-122"/>
                <a:cs typeface="Source Serif 4" pitchFamily="18" charset="-120"/>
              </a:rPr>
              <a:t>−88</a:t>
            </a:r>
            <a:endParaRPr lang="en-US" sz="7000" dirty="0"/>
          </a:p>
        </p:txBody>
      </p:sp>
      <p:sp>
        <p:nvSpPr>
          <p:cNvPr id="9" name="Text 7"/>
          <p:cNvSpPr/>
          <p:nvPr/>
        </p:nvSpPr>
        <p:spPr>
          <a:xfrm>
            <a:off x="6299200" y="4061470"/>
            <a:ext cx="52324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IBM Plex Sans" pitchFamily="34" charset="0"/>
                <a:ea typeface="IBM Plex Sans" pitchFamily="34" charset="-122"/>
                <a:cs typeface="IBM Plex Sans" pitchFamily="34" charset="-120"/>
              </a:rPr>
              <a:t>minutes per +10 points, including hurricanes, ice storms and wildfires</a:t>
            </a:r>
            <a:endParaRPr lang="en-US" sz="1600" dirty="0"/>
          </a:p>
        </p:txBody>
      </p:sp>
      <p:sp>
        <p:nvSpPr>
          <p:cNvPr id="10" name="Text 8"/>
          <p:cNvSpPr/>
          <p:nvPr/>
        </p:nvSpPr>
        <p:spPr>
          <a:xfrm>
            <a:off x="812800" y="5201940"/>
            <a:ext cx="9810750" cy="66546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6F4EE"/>
                </a:solidFill>
                <a:latin typeface="IBM Plex Sans" pitchFamily="34" charset="0"/>
                <a:ea typeface="IBM Plex Sans" pitchFamily="34" charset="-122"/>
                <a:cs typeface="IBM Plex Sans" pitchFamily="34" charset="-120"/>
              </a:rPr>
              <a:t>Burying lines works like storm insurance: overhead lines go down in disasters, buried lines stay up.</a:t>
            </a:r>
            <a:endParaRPr lang="en-US" sz="18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7BF"/>
                </a:solidFill>
                <a:latin typeface="IBM Plex Sans" pitchFamily="34" charset="0"/>
                <a:ea typeface="IBM Plex Sans" pitchFamily="34" charset="-122"/>
                <a:cs typeface="IBM Plex Sans" pitchFamily="34" charset="-120"/>
              </a:rPr>
              <a:t>Regression 2 rerun with SAIDI including major event days · both p ≤ 0.001 · R² falls to 0.06 because disasters are mostly random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07641"/>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213D"/>
                </a:solidFill>
                <a:latin typeface="Source Serif 4" pitchFamily="18" charset="0"/>
                <a:ea typeface="Source Serif 4" pitchFamily="18" charset="-122"/>
                <a:cs typeface="Source Serif 4" pitchFamily="18" charset="-120"/>
              </a:rPr>
              <a:t>Raising the worst 10 to average underground share saves 37 minutes on average</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810941"/>
          <a:ext cx="10553700" cy="3952531"/>
        </p:xfrm>
        <a:graphic>
          <a:graphicData uri="http://schemas.openxmlformats.org/drawingml/2006/table">
            <a:tbl>
              <a:tblPr/>
              <a:tblGrid>
                <a:gridCol w="4643628">
                  <a:extLst>
                    <a:ext uri="{9D8B030D-6E8A-4147-A177-3AD203B41FA5}">
                      <a16:colId xmlns:a16="http://schemas.microsoft.com/office/drawing/2014/main" val="20000"/>
                    </a:ext>
                  </a:extLst>
                </a:gridCol>
                <a:gridCol w="1055370">
                  <a:extLst>
                    <a:ext uri="{9D8B030D-6E8A-4147-A177-3AD203B41FA5}">
                      <a16:colId xmlns:a16="http://schemas.microsoft.com/office/drawing/2014/main" val="20001"/>
                    </a:ext>
                  </a:extLst>
                </a:gridCol>
                <a:gridCol w="1688592">
                  <a:extLst>
                    <a:ext uri="{9D8B030D-6E8A-4147-A177-3AD203B41FA5}">
                      <a16:colId xmlns:a16="http://schemas.microsoft.com/office/drawing/2014/main" val="20002"/>
                    </a:ext>
                  </a:extLst>
                </a:gridCol>
                <a:gridCol w="1583055">
                  <a:extLst>
                    <a:ext uri="{9D8B030D-6E8A-4147-A177-3AD203B41FA5}">
                      <a16:colId xmlns:a16="http://schemas.microsoft.com/office/drawing/2014/main" val="20003"/>
                    </a:ext>
                  </a:extLst>
                </a:gridCol>
                <a:gridCol w="1583055">
                  <a:extLst>
                    <a:ext uri="{9D8B030D-6E8A-4147-A177-3AD203B41FA5}">
                      <a16:colId xmlns:a16="http://schemas.microsoft.com/office/drawing/2014/main" val="20004"/>
                    </a:ext>
                  </a:extLst>
                </a:gridCol>
              </a:tblGrid>
              <a:tr h="359321">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Utility (2025)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State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Outage min</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Underground</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Min saved</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Monongahela Power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WV</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553</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8%</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64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Appalachian Power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WV</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546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17%</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46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Wheeling Power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WV</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426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34%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9</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Entergy Mississippi</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MS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410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15%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50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Kentucky Power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DBAB2"/>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AB2"/>
                      </a:solidFill>
                      <a:prstDash val="solid"/>
                      <a:round/>
                      <a:headEnd type="none" w="med" len="med"/>
                      <a:tailEnd type="none" w="med" len="med"/>
                    </a:lnB>
                    <a:solidFill>
                      <a:srgbClr val="EDE9DF"/>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KY</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AB2"/>
                      </a:solidFill>
                      <a:prstDash val="solid"/>
                      <a:round/>
                      <a:headEnd type="none" w="med" len="med"/>
                      <a:tailEnd type="none" w="med" len="med"/>
                    </a:lnL>
                    <a:lnR w="12700" cap="flat" cmpd="sng" algn="ctr">
                      <a:solidFill>
                        <a:srgbClr val="BDBAB2"/>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AB2"/>
                      </a:solidFill>
                      <a:prstDash val="solid"/>
                      <a:round/>
                      <a:headEnd type="none" w="med" len="med"/>
                      <a:tailEnd type="none" w="med" len="med"/>
                    </a:lnB>
                    <a:solidFill>
                      <a:srgbClr val="EDE9DF"/>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376</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AB2"/>
                      </a:solidFill>
                      <a:prstDash val="solid"/>
                      <a:round/>
                      <a:headEnd type="none" w="med" len="med"/>
                      <a:tailEnd type="none" w="med" len="med"/>
                    </a:lnL>
                    <a:lnR w="12700" cap="flat" cmpd="sng" algn="ctr">
                      <a:solidFill>
                        <a:srgbClr val="BDBAB2"/>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AB2"/>
                      </a:solidFill>
                      <a:prstDash val="solid"/>
                      <a:round/>
                      <a:headEnd type="none" w="med" len="med"/>
                      <a:tailEnd type="none" w="med" len="med"/>
                    </a:lnB>
                    <a:solidFill>
                      <a:srgbClr val="EDE9DF"/>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AB2"/>
                      </a:solidFill>
                      <a:prstDash val="solid"/>
                      <a:round/>
                      <a:headEnd type="none" w="med" len="med"/>
                      <a:tailEnd type="none" w="med" len="med"/>
                    </a:lnL>
                    <a:lnR w="12700" cap="flat" cmpd="sng" algn="ctr">
                      <a:solidFill>
                        <a:srgbClr val="BDBAB2"/>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AB2"/>
                      </a:solidFill>
                      <a:prstDash val="solid"/>
                      <a:round/>
                      <a:headEnd type="none" w="med" len="med"/>
                      <a:tailEnd type="none" w="med" len="med"/>
                    </a:lnB>
                    <a:solidFill>
                      <a:srgbClr val="EDE9DF"/>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75</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AB2"/>
                      </a:solidFill>
                      <a:prstDash val="solid"/>
                      <a:round/>
                      <a:headEnd type="none" w="med" len="med"/>
                      <a:tailEnd type="none" w="med" len="med"/>
                    </a:lnL>
                    <a:lnR w="12700" cap="flat" cmpd="sng" algn="ctr">
                      <a:solidFill>
                        <a:srgbClr val="BDBAB2"/>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AB2"/>
                      </a:solidFill>
                      <a:prstDash val="solid"/>
                      <a:round/>
                      <a:headEnd type="none" w="med" len="med"/>
                      <a:tailEnd type="none" w="med" len="med"/>
                    </a:lnB>
                    <a:solidFill>
                      <a:srgbClr val="EDE9DF"/>
                    </a:solidFill>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Alaska Electric Light &amp; Power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AB2"/>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AK</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AB2"/>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369</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AB2"/>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38%</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AB2"/>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AB2"/>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6"/>
                  </a:ext>
                </a:extLst>
              </a:tr>
              <a:tr h="35932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Southwestern Electric Power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LA</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332</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30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7"/>
                  </a:ext>
                </a:extLst>
              </a:tr>
              <a:tr h="35932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Appalachian Power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VA</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328</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17%</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46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8"/>
                  </a:ext>
                </a:extLst>
              </a:tr>
              <a:tr h="35932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Southwestern Electric Power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TX</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312</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30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9"/>
                  </a:ext>
                </a:extLst>
              </a:tr>
              <a:tr h="35932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Entergy Texas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TX</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305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27%</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22</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4"/>
                </a:solidFill>
                <a:latin typeface="IBM Plex Sans" pitchFamily="34" charset="0"/>
                <a:ea typeface="IBM Plex Sans" pitchFamily="34" charset="-122"/>
                <a:cs typeface="IBM Plex Sans" pitchFamily="34" charset="-120"/>
              </a:rPr>
              <a:t>Predicted with Regression 2, raising underground share to the 37.9% average where below it · normal-day minutes per customer per year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65F12"/>
                </a:solidFill>
                <a:latin typeface="IBM Plex Sans" pitchFamily="34" charset="0"/>
                <a:ea typeface="IBM Plex Sans" pitchFamily="34" charset="-122"/>
                <a:cs typeface="IBM Plex Sans" pitchFamily="34" charset="-120"/>
              </a:rPr>
              <a:t>LIMITATIONS</a:t>
            </a:r>
            <a:endParaRPr lang="en-US" sz="1200" dirty="0"/>
          </a:p>
        </p:txBody>
      </p:sp>
      <p:sp>
        <p:nvSpPr>
          <p:cNvPr id="3" name="Text 1"/>
          <p:cNvSpPr>
            <a:spLocks noGrp="1"/>
          </p:cNvSpPr>
          <p:nvPr>
            <p:ph type="title"/>
          </p:nvPr>
        </p:nvSpPr>
        <p:spPr>
          <a:xfrm>
            <a:off x="812800" y="11785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What this analysis can’t tell us</a:t>
            </a:r>
            <a:endParaRPr lang="en-US" sz="3600" dirty="0"/>
          </a:p>
        </p:txBody>
      </p:sp>
      <p:sp>
        <p:nvSpPr>
          <p:cNvPr id="4" name="Shape 2"/>
          <p:cNvSpPr/>
          <p:nvPr/>
        </p:nvSpPr>
        <p:spPr>
          <a:xfrm>
            <a:off x="815975" y="1989386"/>
            <a:ext cx="5175250" cy="1347391"/>
          </a:xfrm>
          <a:prstGeom prst="roundRect">
            <a:avLst>
              <a:gd name="adj" fmla="val 7305"/>
            </a:avLst>
          </a:prstGeom>
          <a:solidFill>
            <a:srgbClr val="FFFFFF"/>
          </a:solidFill>
          <a:ln w="6350">
            <a:solidFill>
              <a:srgbClr val="DCD8CC"/>
            </a:solidFill>
            <a:prstDash val="solid"/>
          </a:ln>
        </p:spPr>
        <p:txBody>
          <a:bodyPr/>
          <a:lstStyle/>
          <a:p>
            <a:endParaRPr lang="en-US"/>
          </a:p>
        </p:txBody>
      </p:sp>
      <p:sp>
        <p:nvSpPr>
          <p:cNvPr id="5" name="Text 3"/>
          <p:cNvSpPr/>
          <p:nvPr/>
        </p:nvSpPr>
        <p:spPr>
          <a:xfrm>
            <a:off x="1073150" y="2246561"/>
            <a:ext cx="480072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Correlation, not causation</a:t>
            </a:r>
            <a:endParaRPr lang="en-US" sz="1700" dirty="0"/>
          </a:p>
        </p:txBody>
      </p:sp>
      <p:sp>
        <p:nvSpPr>
          <p:cNvPr id="6" name="Text 4"/>
          <p:cNvSpPr/>
          <p:nvPr/>
        </p:nvSpPr>
        <p:spPr>
          <a:xfrm>
            <a:off x="1073150" y="2581821"/>
            <a:ext cx="480072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Utilities with more buried lines may also be newer or more urban</a:t>
            </a:r>
            <a:endParaRPr lang="en-US" sz="1400" dirty="0"/>
          </a:p>
        </p:txBody>
      </p:sp>
      <p:sp>
        <p:nvSpPr>
          <p:cNvPr id="7" name="Shape 5"/>
          <p:cNvSpPr/>
          <p:nvPr/>
        </p:nvSpPr>
        <p:spPr>
          <a:xfrm>
            <a:off x="6200775" y="1989386"/>
            <a:ext cx="5175250" cy="1347391"/>
          </a:xfrm>
          <a:prstGeom prst="roundRect">
            <a:avLst>
              <a:gd name="adj" fmla="val 7305"/>
            </a:avLst>
          </a:prstGeom>
          <a:solidFill>
            <a:srgbClr val="FFFFFF"/>
          </a:solidFill>
          <a:ln w="6350">
            <a:solidFill>
              <a:srgbClr val="DCD8CC"/>
            </a:solidFill>
            <a:prstDash val="solid"/>
          </a:ln>
        </p:spPr>
        <p:txBody>
          <a:bodyPr/>
          <a:lstStyle/>
          <a:p>
            <a:endParaRPr lang="en-US"/>
          </a:p>
        </p:txBody>
      </p:sp>
      <p:sp>
        <p:nvSpPr>
          <p:cNvPr id="8" name="Text 6"/>
          <p:cNvSpPr/>
          <p:nvPr/>
        </p:nvSpPr>
        <p:spPr>
          <a:xfrm>
            <a:off x="6457950" y="2246561"/>
            <a:ext cx="480072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Dollars, not miles</a:t>
            </a:r>
            <a:endParaRPr lang="en-US" sz="1700" dirty="0"/>
          </a:p>
        </p:txBody>
      </p:sp>
      <p:sp>
        <p:nvSpPr>
          <p:cNvPr id="9" name="Text 7"/>
          <p:cNvSpPr/>
          <p:nvPr/>
        </p:nvSpPr>
        <p:spPr>
          <a:xfrm>
            <a:off x="6457950" y="2581821"/>
            <a:ext cx="480072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Underground line costs more per mile, so the dollar share overstates how much is buried</a:t>
            </a:r>
            <a:endParaRPr lang="en-US" sz="1400" dirty="0"/>
          </a:p>
        </p:txBody>
      </p:sp>
      <p:sp>
        <p:nvSpPr>
          <p:cNvPr id="10" name="Shape 8"/>
          <p:cNvSpPr/>
          <p:nvPr/>
        </p:nvSpPr>
        <p:spPr>
          <a:xfrm>
            <a:off x="815975" y="3546326"/>
            <a:ext cx="5175250" cy="1347391"/>
          </a:xfrm>
          <a:prstGeom prst="roundRect">
            <a:avLst>
              <a:gd name="adj" fmla="val 7305"/>
            </a:avLst>
          </a:prstGeom>
          <a:solidFill>
            <a:srgbClr val="FFFFFF"/>
          </a:solidFill>
          <a:ln w="6350">
            <a:solidFill>
              <a:srgbClr val="DCD8CC"/>
            </a:solidFill>
            <a:prstDash val="solid"/>
          </a:ln>
        </p:spPr>
        <p:txBody>
          <a:bodyPr/>
          <a:lstStyle/>
          <a:p>
            <a:endParaRPr lang="en-US"/>
          </a:p>
        </p:txBody>
      </p:sp>
      <p:sp>
        <p:nvSpPr>
          <p:cNvPr id="11" name="Text 9"/>
          <p:cNvSpPr/>
          <p:nvPr/>
        </p:nvSpPr>
        <p:spPr>
          <a:xfrm>
            <a:off x="1073150" y="3803501"/>
            <a:ext cx="480072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Company-level spending</a:t>
            </a:r>
            <a:endParaRPr lang="en-US" sz="1700" dirty="0"/>
          </a:p>
        </p:txBody>
      </p:sp>
      <p:sp>
        <p:nvSpPr>
          <p:cNvPr id="12" name="Text 10"/>
          <p:cNvSpPr/>
          <p:nvPr/>
        </p:nvSpPr>
        <p:spPr>
          <a:xfrm>
            <a:off x="1073150" y="4138761"/>
            <a:ext cx="480072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FERC values repeat across a company’s states; clustered errors account for it</a:t>
            </a:r>
            <a:endParaRPr lang="en-US" sz="1400" dirty="0"/>
          </a:p>
        </p:txBody>
      </p:sp>
      <p:sp>
        <p:nvSpPr>
          <p:cNvPr id="13" name="Shape 11"/>
          <p:cNvSpPr/>
          <p:nvPr/>
        </p:nvSpPr>
        <p:spPr>
          <a:xfrm>
            <a:off x="6200775" y="3546326"/>
            <a:ext cx="5175250" cy="1347391"/>
          </a:xfrm>
          <a:prstGeom prst="roundRect">
            <a:avLst>
              <a:gd name="adj" fmla="val 7305"/>
            </a:avLst>
          </a:prstGeom>
          <a:solidFill>
            <a:srgbClr val="FFFFFF"/>
          </a:solidFill>
          <a:ln w="6350">
            <a:solidFill>
              <a:srgbClr val="DCD8CC"/>
            </a:solidFill>
            <a:prstDash val="solid"/>
          </a:ln>
        </p:spPr>
        <p:txBody>
          <a:bodyPr/>
          <a:lstStyle/>
          <a:p>
            <a:endParaRPr lang="en-US"/>
          </a:p>
        </p:txBody>
      </p:sp>
      <p:sp>
        <p:nvSpPr>
          <p:cNvPr id="14" name="Text 12"/>
          <p:cNvSpPr/>
          <p:nvPr/>
        </p:nvSpPr>
        <p:spPr>
          <a:xfrm>
            <a:off x="6457950" y="3803501"/>
            <a:ext cx="480072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Weather and straight lines</a:t>
            </a:r>
            <a:endParaRPr lang="en-US" sz="1700" dirty="0"/>
          </a:p>
        </p:txBody>
      </p:sp>
      <p:sp>
        <p:nvSpPr>
          <p:cNvPr id="15" name="Text 13"/>
          <p:cNvSpPr/>
          <p:nvPr/>
        </p:nvSpPr>
        <p:spPr>
          <a:xfrm>
            <a:off x="6457950" y="4138761"/>
            <a:ext cx="480072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Ordinary storms aren’t controlled for, and a linear model predicts below zero at the extremes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TAKEAWAY AND NEXT STEPS</a:t>
            </a:r>
            <a:endParaRPr lang="en-US" sz="1200" dirty="0"/>
          </a:p>
        </p:txBody>
      </p:sp>
      <p:sp>
        <p:nvSpPr>
          <p:cNvPr id="3" name="Text 1"/>
          <p:cNvSpPr>
            <a:spLocks noGrp="1"/>
          </p:cNvSpPr>
          <p:nvPr>
            <p:ph type="title"/>
          </p:nvPr>
        </p:nvSpPr>
        <p:spPr>
          <a:xfrm>
            <a:off x="812800" y="1178520"/>
            <a:ext cx="10137775" cy="11430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F6F4EE"/>
                </a:solidFill>
                <a:latin typeface="Source Serif 4" pitchFamily="18" charset="0"/>
                <a:ea typeface="Source Serif 4" pitchFamily="18" charset="-122"/>
                <a:cs typeface="Source Serif 4" pitchFamily="18" charset="-120"/>
              </a:rPr>
              <a:t>Buried lines are the one investment tied to fewer outages in every model</a:t>
            </a:r>
            <a:endParaRPr lang="en-US" sz="4000" dirty="0"/>
          </a:p>
        </p:txBody>
      </p:sp>
      <p:sp>
        <p:nvSpPr>
          <p:cNvPr id="4" name="Shape 2"/>
          <p:cNvSpPr/>
          <p:nvPr/>
        </p:nvSpPr>
        <p:spPr>
          <a:xfrm>
            <a:off x="812800" y="4513610"/>
            <a:ext cx="10566400" cy="0"/>
          </a:xfrm>
          <a:prstGeom prst="line">
            <a:avLst/>
          </a:prstGeom>
          <a:noFill/>
          <a:ln w="25400">
            <a:solidFill>
              <a:srgbClr val="E8A33D"/>
            </a:solidFill>
            <a:prstDash val="solid"/>
          </a:ln>
        </p:spPr>
        <p:txBody>
          <a:bodyPr/>
          <a:lstStyle/>
          <a:p>
            <a:endParaRPr lang="en-US"/>
          </a:p>
        </p:txBody>
      </p:sp>
      <p:sp>
        <p:nvSpPr>
          <p:cNvPr id="5" name="Text 3"/>
          <p:cNvSpPr/>
          <p:nvPr/>
        </p:nvSpPr>
        <p:spPr>
          <a:xfrm>
            <a:off x="812800" y="4729510"/>
            <a:ext cx="1088339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8A33D"/>
                </a:solidFill>
                <a:latin typeface="IBM Plex Sans" pitchFamily="34" charset="0"/>
                <a:ea typeface="IBM Plex Sans" pitchFamily="34" charset="-122"/>
                <a:cs typeface="IBM Plex Sans" pitchFamily="34" charset="-120"/>
              </a:rPr>
              <a:t>Next Steps</a:t>
            </a:r>
            <a:endParaRPr lang="en-US" sz="1800" dirty="0"/>
          </a:p>
        </p:txBody>
      </p:sp>
      <p:sp>
        <p:nvSpPr>
          <p:cNvPr id="6" name="Text 4"/>
          <p:cNvSpPr/>
          <p:nvPr/>
        </p:nvSpPr>
        <p:spPr>
          <a:xfrm>
            <a:off x="870458" y="5130800"/>
            <a:ext cx="10818114" cy="939800"/>
          </a:xfrm>
          <a:prstGeom prst="rect">
            <a:avLst/>
          </a:prstGeom>
          <a:noFill/>
          <a:ln/>
        </p:spPr>
        <p:txBody>
          <a:bodyPr wrap="square" lIns="0" tIns="0" rIns="0" bIns="0" rtlCol="0" anchor="t">
            <a:normAutofit/>
          </a:bodyPr>
          <a:lstStyle/>
          <a:p>
            <a:pPr marL="196342" indent="-196342" algn="l">
              <a:lnSpc>
                <a:spcPts val="2400"/>
              </a:lnSpc>
              <a:buSzPct val="100000"/>
              <a:buChar char="•"/>
            </a:pPr>
            <a:r>
              <a:rPr lang="en-US" sz="1600" dirty="0">
                <a:solidFill>
                  <a:srgbClr val="C9D3E3"/>
                </a:solidFill>
                <a:latin typeface="IBM Plex Sans" pitchFamily="34" charset="0"/>
                <a:ea typeface="IBM Plex Sans" pitchFamily="34" charset="-122"/>
                <a:cs typeface="IBM Plex Sans" pitchFamily="34" charset="-120"/>
              </a:rPr>
              <a:t>Cost per outage minute saved: undergrounding cost per mile against minutes gained</a:t>
            </a:r>
            <a:endParaRPr lang="en-US" sz="1600" dirty="0"/>
          </a:p>
          <a:p>
            <a:pPr marL="196342" indent="-196342" algn="l">
              <a:lnSpc>
                <a:spcPts val="2400"/>
              </a:lnSpc>
              <a:buSzPct val="100000"/>
              <a:buChar char="•"/>
            </a:pPr>
            <a:r>
              <a:rPr lang="en-US" sz="1600" dirty="0">
                <a:solidFill>
                  <a:srgbClr val="C9D3E3"/>
                </a:solidFill>
                <a:latin typeface="IBM Plex Sans" pitchFamily="34" charset="0"/>
                <a:ea typeface="IBM Plex Sans" pitchFamily="34" charset="-122"/>
                <a:cs typeface="IBM Plex Sans" pitchFamily="34" charset="-120"/>
              </a:rPr>
              <a:t>Payback period for burying lines at the worst-performing utilities</a:t>
            </a:r>
            <a:endParaRPr lang="en-US" sz="1600" dirty="0"/>
          </a:p>
          <a:p>
            <a:pPr marL="196342" indent="-196342" algn="l">
              <a:lnSpc>
                <a:spcPts val="2400"/>
              </a:lnSpc>
              <a:buSzPct val="100000"/>
              <a:buChar char="•"/>
            </a:pPr>
            <a:r>
              <a:rPr lang="en-US" sz="1600" dirty="0">
                <a:solidFill>
                  <a:srgbClr val="C9D3E3"/>
                </a:solidFill>
                <a:latin typeface="IBM Plex Sans" pitchFamily="34" charset="0"/>
                <a:ea typeface="IBM Plex Sans" pitchFamily="34" charset="-122"/>
                <a:cs typeface="IBM Plex Sans" pitchFamily="34" charset="-120"/>
              </a:rPr>
              <a:t>Add weather data by state to separate storms from utility performance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65F12"/>
                </a:solidFill>
                <a:latin typeface="IBM Plex Sans" pitchFamily="34" charset="0"/>
                <a:ea typeface="IBM Plex Sans" pitchFamily="34" charset="-122"/>
                <a:cs typeface="IBM Plex Sans" pitchFamily="34" charset="-120"/>
              </a:rPr>
              <a:t>APPENDIX</a:t>
            </a:r>
            <a:endParaRPr lang="en-US" sz="1200" dirty="0"/>
          </a:p>
        </p:txBody>
      </p:sp>
      <p:sp>
        <p:nvSpPr>
          <p:cNvPr id="3" name="Text 1"/>
          <p:cNvSpPr>
            <a:spLocks noGrp="1"/>
          </p:cNvSpPr>
          <p:nvPr>
            <p:ph type="title"/>
          </p:nvPr>
        </p:nvSpPr>
        <p:spPr>
          <a:xfrm>
            <a:off x="812800" y="11785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Contributions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736051995"/>
              </p:ext>
            </p:extLst>
          </p:nvPr>
        </p:nvGraphicFramePr>
        <p:xfrm>
          <a:off x="825500" y="1998911"/>
          <a:ext cx="10559282" cy="1238250"/>
        </p:xfrm>
        <a:graphic>
          <a:graphicData uri="http://schemas.openxmlformats.org/drawingml/2006/table">
            <a:tbl>
              <a:tblPr/>
              <a:tblGrid>
                <a:gridCol w="3166110">
                  <a:extLst>
                    <a:ext uri="{9D8B030D-6E8A-4147-A177-3AD203B41FA5}">
                      <a16:colId xmlns:a16="http://schemas.microsoft.com/office/drawing/2014/main" val="20000"/>
                    </a:ext>
                  </a:extLst>
                </a:gridCol>
                <a:gridCol w="5276850">
                  <a:extLst>
                    <a:ext uri="{9D8B030D-6E8A-4147-A177-3AD203B41FA5}">
                      <a16:colId xmlns:a16="http://schemas.microsoft.com/office/drawing/2014/main" val="20001"/>
                    </a:ext>
                  </a:extLst>
                </a:gridCol>
                <a:gridCol w="2116322">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Team member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Contributed</a:t>
                      </a:r>
                      <a:endParaRPr lang="en-US" sz="1500" dirty="0">
                        <a:latin typeface="IBM Plex Sans" charset="0"/>
                        <a:ea typeface="IBM Plex Sans" charset="0"/>
                        <a:cs typeface="IBM Plex Sans" charset="0"/>
                      </a:endParaRPr>
                    </a:p>
                  </a:txBody>
                  <a:tcPr marL="66675" marR="66675" marT="66675" marB="6667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Share</a:t>
                      </a:r>
                      <a:endParaRPr lang="en-US" sz="1500" dirty="0">
                        <a:latin typeface="IBM Plex Sans" charset="0"/>
                        <a:ea typeface="IBM Plex Sans" charset="0"/>
                        <a:cs typeface="IBM Plex Sans" charset="0"/>
                      </a:endParaRPr>
                    </a:p>
                  </a:txBody>
                  <a:tcPr marL="66675" marR="66675" marT="66675" marB="6667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Andrew Massa</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dirty="0">
                          <a:latin typeface="IBM Plex Sans" charset="0"/>
                          <a:ea typeface="IBM Plex Sans" charset="0"/>
                          <a:cs typeface="IBM Plex Sans" charset="0"/>
                        </a:rPr>
                        <a:t>Cleaning and Merging Data, Power Point Slides</a:t>
                      </a: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2100"/>
                        </a:lnSpc>
                        <a:buNone/>
                      </a:pPr>
                      <a:r>
                        <a:rPr lang="en-US" sz="1500" dirty="0">
                          <a:latin typeface="IBM Plex Sans" charset="0"/>
                          <a:ea typeface="IBM Plex Sans" charset="0"/>
                          <a:cs typeface="IBM Plex Sans" charset="0"/>
                        </a:rPr>
                        <a:t>100%, 50%</a:t>
                      </a: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Jeremiah Cedano</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Analysis of Data, Power Point Slides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marR="0" lvl="0" indent="0" algn="r" defTabSz="914400" rtl="0" eaLnBrk="1" fontAlgn="auto" latinLnBrk="0" hangingPunct="1">
                        <a:lnSpc>
                          <a:spcPts val="2100"/>
                        </a:lnSpc>
                        <a:spcBef>
                          <a:spcPts val="0"/>
                        </a:spcBef>
                        <a:spcAft>
                          <a:spcPts val="0"/>
                        </a:spcAft>
                        <a:buClrTx/>
                        <a:buSzTx/>
                        <a:buFontTx/>
                        <a:buNone/>
                        <a:tabLst/>
                        <a:defRPr/>
                      </a:pPr>
                      <a:r>
                        <a:rPr lang="en-US" sz="1500">
                          <a:latin typeface="IBM Plex Sans" charset="0"/>
                          <a:ea typeface="IBM Plex Sans" charset="0"/>
                          <a:cs typeface="IBM Plex Sans" charset="0"/>
                        </a:rPr>
                        <a:t>100%, 50%</a:t>
                      </a: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812800" y="3541961"/>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6"/>
                </a:solidFill>
                <a:latin typeface="IBM Plex Sans" pitchFamily="34" charset="0"/>
                <a:ea typeface="IBM Plex Sans" pitchFamily="34" charset="-122"/>
                <a:cs typeface="IBM Plex Sans" pitchFamily="34" charset="-120"/>
              </a:rPr>
              <a:t>Code contributions are stated and printed in both notebooks, as the rubric requires.</a:t>
            </a:r>
            <a:endParaRPr lang="en-US" sz="1400" dirty="0"/>
          </a:p>
        </p:txBody>
      </p:sp>
    </p:spTree>
  </p:cSld>
  <p:clrMapOvr>
    <a:masterClrMapping/>
  </p:clrMapOvr>
</p:sld>
</file>

<file path=ppt/theme/theme1.xml><?xml version="1.0" encoding="utf-8"?>
<a:theme xmlns:a="http://schemas.openxmlformats.org/drawingml/2006/main" name="Burying the Lines: Underground Power and Outage Reliability">
  <a:themeElements>
    <a:clrScheme name="Burying the Lines: Underground Power and Outage Reliability">
      <a:dk1>
        <a:srgbClr val="14213D"/>
      </a:dk1>
      <a:lt1>
        <a:srgbClr val="F6F4EE"/>
      </a:lt1>
      <a:dk2>
        <a:srgbClr val="4D5669"/>
      </a:dk2>
      <a:lt2>
        <a:srgbClr val="DFDFDC"/>
      </a:lt2>
      <a:accent1>
        <a:srgbClr val="A65F12"/>
      </a:accent1>
      <a:accent2>
        <a:srgbClr val="E8A33D"/>
      </a:accent2>
      <a:accent3>
        <a:srgbClr val="3D4656"/>
      </a:accent3>
      <a:accent4>
        <a:srgbClr val="C9D3E3"/>
      </a:accent4>
      <a:accent5>
        <a:srgbClr val="5B6474"/>
      </a:accent5>
      <a:accent6>
        <a:srgbClr val="9AA7BF"/>
      </a:accent6>
      <a:hlink>
        <a:srgbClr val="0563C1"/>
      </a:hlink>
      <a:folHlink>
        <a:srgbClr val="954F72"/>
      </a:folHlink>
    </a:clrScheme>
    <a:fontScheme name="Burying the Lines: Underground Power and Outage Reliability">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1610</Words>
  <Application>Microsoft Macintosh PowerPoint</Application>
  <PresentationFormat>Widescreen</PresentationFormat>
  <Paragraphs>221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IBM Plex Sans</vt:lpstr>
      <vt:lpstr>Source Serif 4</vt:lpstr>
      <vt:lpstr>Burying the Lines: Underground Power and Outage Reliability</vt:lpstr>
      <vt:lpstr>Burying the Lines</vt:lpstr>
      <vt:lpstr>Some utilities keep the lights on. Others leave customers in the dark for hours.</vt:lpstr>
      <vt:lpstr>Four groups decide or pay for reliability</vt:lpstr>
      <vt:lpstr>Two federal sources, linked company by company</vt:lpstr>
      <vt:lpstr>One outcome, four things a utility can change</vt:lpstr>
      <vt:lpstr>Clean, merge, then regress</vt:lpstr>
      <vt:lpstr>More underground lines, fewer outage minutes</vt:lpstr>
      <vt:lpstr>Underground share holds up; smart meters and circuits don’t matter</vt:lpstr>
      <vt:lpstr>On disaster days, underground lines matter four times more</vt:lpstr>
      <vt:lpstr>Raising the worst 10 to average underground share saves 37 minutes on average</vt:lpstr>
      <vt:lpstr>What this analysis can’t tell us</vt:lpstr>
      <vt:lpstr>Buried lines are the one investment tied to fewer outages in every model</vt:lpstr>
      <vt:lpstr>Contributions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Burying the Lines: Underground Power and Outage Reliability</dc:title>
  <dc:subject/>
  <dc:creator/>
  <cp:lastModifiedBy>Andrew Massa</cp:lastModifiedBy>
  <cp:revision>1</cp:revision>
  <dcterms:created xsi:type="dcterms:W3CDTF">2026-10-19T03:13:17Z</dcterms:created>
  <dcterms:modified xsi:type="dcterms:W3CDTF">2026-10-19T03:29:15Z</dcterms:modified>
</cp:coreProperties>
</file>